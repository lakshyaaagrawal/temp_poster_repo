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34198550" cx="69860150"/>
  <p:notesSz cx="6858000" cy="9144000"/>
  <p:embeddedFontLst>
    <p:embeddedFont>
      <p:font typeface="Lato"/>
      <p:regular r:id="rId13"/>
      <p:bold r:id="rId14"/>
      <p:italic r:id="rId15"/>
      <p:boldItalic r:id="rId16"/>
    </p:embeddedFont>
    <p:embeddedFont>
      <p:font typeface="Helvetica Neue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771">
          <p15:clr>
            <a:srgbClr val="747775"/>
          </p15:clr>
        </p15:guide>
        <p15:guide id="2" pos="220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771" orient="horz"/>
        <p:guide pos="2200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font" Target="fonts/Lato-regular.fntdata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schemas.openxmlformats.org/officeDocument/2006/relationships/font" Target="fonts/HelveticaNeue-regular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73054" y="685800"/>
            <a:ext cx="7004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-73054" y="685800"/>
            <a:ext cx="7004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8a38fa856_1_0:notes"/>
          <p:cNvSpPr/>
          <p:nvPr>
            <p:ph idx="2" type="sldImg"/>
          </p:nvPr>
        </p:nvSpPr>
        <p:spPr>
          <a:xfrm>
            <a:off x="-73054" y="685800"/>
            <a:ext cx="7004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8a38fa85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8b775209a_1_0:notes"/>
          <p:cNvSpPr/>
          <p:nvPr>
            <p:ph idx="2" type="sldImg"/>
          </p:nvPr>
        </p:nvSpPr>
        <p:spPr>
          <a:xfrm>
            <a:off x="-73054" y="685800"/>
            <a:ext cx="7004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8b775209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859f1e454_0_61:notes"/>
          <p:cNvSpPr/>
          <p:nvPr>
            <p:ph idx="2" type="sldImg"/>
          </p:nvPr>
        </p:nvSpPr>
        <p:spPr>
          <a:xfrm>
            <a:off x="-73054" y="685800"/>
            <a:ext cx="7004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859f1e45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8a38fa856_1_61:notes"/>
          <p:cNvSpPr/>
          <p:nvPr>
            <p:ph idx="2" type="sldImg"/>
          </p:nvPr>
        </p:nvSpPr>
        <p:spPr>
          <a:xfrm>
            <a:off x="-73054" y="685800"/>
            <a:ext cx="7004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8a38fa856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8a38fa856_1_66:notes"/>
          <p:cNvSpPr/>
          <p:nvPr>
            <p:ph idx="2" type="sldImg"/>
          </p:nvPr>
        </p:nvSpPr>
        <p:spPr>
          <a:xfrm>
            <a:off x="-73054" y="685800"/>
            <a:ext cx="7004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8a38fa856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8a38fa856_1_72:notes"/>
          <p:cNvSpPr/>
          <p:nvPr>
            <p:ph idx="2" type="sldImg"/>
          </p:nvPr>
        </p:nvSpPr>
        <p:spPr>
          <a:xfrm>
            <a:off x="-73054" y="685800"/>
            <a:ext cx="7004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8a38fa856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381451" y="4950595"/>
            <a:ext cx="65097300" cy="13647600"/>
          </a:xfrm>
          <a:prstGeom prst="rect">
            <a:avLst/>
          </a:prstGeom>
        </p:spPr>
        <p:txBody>
          <a:bodyPr anchorCtr="0" anchor="b" bIns="668275" lIns="668275" spcFirstLastPara="1" rIns="668275" wrap="square" tIns="668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10"/>
              <a:buNone/>
              <a:defRPr sz="3801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81388" y="18843777"/>
            <a:ext cx="65097300" cy="52698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381388" y="14300758"/>
            <a:ext cx="65097300" cy="55971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1pPr>
            <a:lvl2pPr lvl="1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2pPr>
            <a:lvl3pPr lvl="2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3pPr>
            <a:lvl4pPr lvl="3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4pPr>
            <a:lvl5pPr lvl="4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5pPr>
            <a:lvl6pPr lvl="5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6pPr>
            <a:lvl7pPr lvl="6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7pPr>
            <a:lvl8pPr lvl="7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8pPr>
            <a:lvl9pPr lvl="8" algn="ctr">
              <a:spcBef>
                <a:spcPts val="0"/>
              </a:spcBef>
              <a:spcAft>
                <a:spcPts val="0"/>
              </a:spcAft>
              <a:buSzPts val="26315"/>
              <a:buNone/>
              <a:defRPr sz="26315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381388" y="2958921"/>
            <a:ext cx="65097300" cy="38079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1pPr>
            <a:lvl2pPr lvl="1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2pPr>
            <a:lvl3pPr lvl="2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3pPr>
            <a:lvl4pPr lvl="3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4pPr>
            <a:lvl5pPr lvl="4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5pPr>
            <a:lvl6pPr lvl="5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6pPr>
            <a:lvl7pPr lvl="6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7pPr>
            <a:lvl8pPr lvl="7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8pPr>
            <a:lvl9pPr lvl="8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381388" y="7662676"/>
            <a:ext cx="65097300" cy="227154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indent="-1064090" lvl="0" marL="457200">
              <a:spcBef>
                <a:spcPts val="0"/>
              </a:spcBef>
              <a:spcAft>
                <a:spcPts val="0"/>
              </a:spcAft>
              <a:buSzPts val="13157"/>
              <a:buChar char="●"/>
              <a:defRPr sz="13157"/>
            </a:lvl1pPr>
            <a:lvl2pPr indent="-878426" lvl="1" marL="914400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2pPr>
            <a:lvl3pPr indent="-878426" lvl="2" marL="1371600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3pPr>
            <a:lvl4pPr indent="-878426" lvl="3" marL="1828800">
              <a:spcBef>
                <a:spcPts val="0"/>
              </a:spcBef>
              <a:spcAft>
                <a:spcPts val="0"/>
              </a:spcAft>
              <a:buSzPts val="10233"/>
              <a:buChar char="●"/>
              <a:defRPr sz="10233"/>
            </a:lvl4pPr>
            <a:lvl5pPr indent="-878426" lvl="4" marL="2286000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5pPr>
            <a:lvl6pPr indent="-878426" lvl="5" marL="2743200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6pPr>
            <a:lvl7pPr indent="-878426" lvl="6" marL="3200400">
              <a:spcBef>
                <a:spcPts val="0"/>
              </a:spcBef>
              <a:spcAft>
                <a:spcPts val="0"/>
              </a:spcAft>
              <a:buSzPts val="10233"/>
              <a:buChar char="●"/>
              <a:defRPr sz="10233"/>
            </a:lvl7pPr>
            <a:lvl8pPr indent="-878426" lvl="7" marL="3657600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8pPr>
            <a:lvl9pPr indent="-878426" lvl="8" marL="4114800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381388" y="2958921"/>
            <a:ext cx="65097300" cy="38079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1pPr>
            <a:lvl2pPr lvl="1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2pPr>
            <a:lvl3pPr lvl="2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3pPr>
            <a:lvl4pPr lvl="3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4pPr>
            <a:lvl5pPr lvl="4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5pPr>
            <a:lvl6pPr lvl="5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6pPr>
            <a:lvl7pPr lvl="6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7pPr>
            <a:lvl8pPr lvl="7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8pPr>
            <a:lvl9pPr lvl="8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381388" y="7662676"/>
            <a:ext cx="30559200" cy="227154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indent="-878426" lvl="0" marL="457200">
              <a:spcBef>
                <a:spcPts val="0"/>
              </a:spcBef>
              <a:spcAft>
                <a:spcPts val="0"/>
              </a:spcAft>
              <a:buSzPts val="10233"/>
              <a:buChar char="●"/>
              <a:defRPr sz="10233"/>
            </a:lvl1pPr>
            <a:lvl2pPr indent="-785593" lvl="1" marL="9144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2pPr>
            <a:lvl3pPr indent="-785593" lvl="2" marL="13716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3pPr>
            <a:lvl4pPr indent="-785593" lvl="3" marL="1828800">
              <a:spcBef>
                <a:spcPts val="0"/>
              </a:spcBef>
              <a:spcAft>
                <a:spcPts val="0"/>
              </a:spcAft>
              <a:buSzPts val="8772"/>
              <a:buChar char="●"/>
              <a:defRPr sz="8772"/>
            </a:lvl4pPr>
            <a:lvl5pPr indent="-785593" lvl="4" marL="22860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5pPr>
            <a:lvl6pPr indent="-785594" lvl="5" marL="27432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6pPr>
            <a:lvl7pPr indent="-785594" lvl="6" marL="3200400">
              <a:spcBef>
                <a:spcPts val="0"/>
              </a:spcBef>
              <a:spcAft>
                <a:spcPts val="0"/>
              </a:spcAft>
              <a:buSzPts val="8772"/>
              <a:buChar char="●"/>
              <a:defRPr sz="8772"/>
            </a:lvl7pPr>
            <a:lvl8pPr indent="-785594" lvl="7" marL="36576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8pPr>
            <a:lvl9pPr indent="-785594" lvl="8" marL="41148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6919531" y="7662676"/>
            <a:ext cx="30559200" cy="227154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indent="-878426" lvl="0" marL="457200">
              <a:spcBef>
                <a:spcPts val="0"/>
              </a:spcBef>
              <a:spcAft>
                <a:spcPts val="0"/>
              </a:spcAft>
              <a:buSzPts val="10233"/>
              <a:buChar char="●"/>
              <a:defRPr sz="10233"/>
            </a:lvl1pPr>
            <a:lvl2pPr indent="-785593" lvl="1" marL="9144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2pPr>
            <a:lvl3pPr indent="-785593" lvl="2" marL="13716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3pPr>
            <a:lvl4pPr indent="-785593" lvl="3" marL="1828800">
              <a:spcBef>
                <a:spcPts val="0"/>
              </a:spcBef>
              <a:spcAft>
                <a:spcPts val="0"/>
              </a:spcAft>
              <a:buSzPts val="8772"/>
              <a:buChar char="●"/>
              <a:defRPr sz="8772"/>
            </a:lvl4pPr>
            <a:lvl5pPr indent="-785593" lvl="4" marL="22860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5pPr>
            <a:lvl6pPr indent="-785594" lvl="5" marL="27432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6pPr>
            <a:lvl7pPr indent="-785594" lvl="6" marL="3200400">
              <a:spcBef>
                <a:spcPts val="0"/>
              </a:spcBef>
              <a:spcAft>
                <a:spcPts val="0"/>
              </a:spcAft>
              <a:buSzPts val="8772"/>
              <a:buChar char="●"/>
              <a:defRPr sz="8772"/>
            </a:lvl7pPr>
            <a:lvl8pPr indent="-785594" lvl="7" marL="36576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8pPr>
            <a:lvl9pPr indent="-785594" lvl="8" marL="41148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381388" y="2958921"/>
            <a:ext cx="65097300" cy="38079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1pPr>
            <a:lvl2pPr lvl="1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2pPr>
            <a:lvl3pPr lvl="2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3pPr>
            <a:lvl4pPr lvl="3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4pPr>
            <a:lvl5pPr lvl="4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5pPr>
            <a:lvl6pPr lvl="5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6pPr>
            <a:lvl7pPr lvl="6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7pPr>
            <a:lvl8pPr lvl="7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8pPr>
            <a:lvl9pPr lvl="8">
              <a:spcBef>
                <a:spcPts val="0"/>
              </a:spcBef>
              <a:spcAft>
                <a:spcPts val="0"/>
              </a:spcAft>
              <a:buSzPts val="20467"/>
              <a:buNone/>
              <a:defRPr sz="20467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381388" y="3694122"/>
            <a:ext cx="21453000" cy="5024700"/>
          </a:xfrm>
          <a:prstGeom prst="rect">
            <a:avLst/>
          </a:prstGeom>
        </p:spPr>
        <p:txBody>
          <a:bodyPr anchorCtr="0" anchor="b" bIns="668275" lIns="668275" spcFirstLastPara="1" rIns="668275" wrap="square" tIns="668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1pPr>
            <a:lvl2pPr lvl="1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2pPr>
            <a:lvl3pPr lvl="2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3pPr>
            <a:lvl4pPr lvl="3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4pPr>
            <a:lvl5pPr lvl="4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5pPr>
            <a:lvl6pPr lvl="5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6pPr>
            <a:lvl7pPr lvl="6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7pPr>
            <a:lvl8pPr lvl="7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8pPr>
            <a:lvl9pPr lvl="8">
              <a:spcBef>
                <a:spcPts val="0"/>
              </a:spcBef>
              <a:spcAft>
                <a:spcPts val="0"/>
              </a:spcAft>
              <a:buSzPts val="17543"/>
              <a:buNone/>
              <a:defRPr sz="17543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381388" y="9239293"/>
            <a:ext cx="21453000" cy="211395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indent="-785593" lvl="0" marL="457200">
              <a:spcBef>
                <a:spcPts val="0"/>
              </a:spcBef>
              <a:spcAft>
                <a:spcPts val="0"/>
              </a:spcAft>
              <a:buSzPts val="8772"/>
              <a:buChar char="●"/>
              <a:defRPr sz="8772"/>
            </a:lvl1pPr>
            <a:lvl2pPr indent="-785593" lvl="1" marL="9144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2pPr>
            <a:lvl3pPr indent="-785593" lvl="2" marL="13716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3pPr>
            <a:lvl4pPr indent="-785593" lvl="3" marL="1828800">
              <a:spcBef>
                <a:spcPts val="0"/>
              </a:spcBef>
              <a:spcAft>
                <a:spcPts val="0"/>
              </a:spcAft>
              <a:buSzPts val="8772"/>
              <a:buChar char="●"/>
              <a:defRPr sz="8772"/>
            </a:lvl4pPr>
            <a:lvl5pPr indent="-785593" lvl="4" marL="22860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5pPr>
            <a:lvl6pPr indent="-785594" lvl="5" marL="27432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6pPr>
            <a:lvl7pPr indent="-785594" lvl="6" marL="3200400">
              <a:spcBef>
                <a:spcPts val="0"/>
              </a:spcBef>
              <a:spcAft>
                <a:spcPts val="0"/>
              </a:spcAft>
              <a:buSzPts val="8772"/>
              <a:buChar char="●"/>
              <a:defRPr sz="8772"/>
            </a:lvl7pPr>
            <a:lvl8pPr indent="-785594" lvl="7" marL="3657600">
              <a:spcBef>
                <a:spcPts val="0"/>
              </a:spcBef>
              <a:spcAft>
                <a:spcPts val="0"/>
              </a:spcAft>
              <a:buSzPts val="8772"/>
              <a:buChar char="○"/>
              <a:defRPr sz="8772"/>
            </a:lvl8pPr>
            <a:lvl9pPr indent="-785594" lvl="8" marL="4114800">
              <a:spcBef>
                <a:spcPts val="0"/>
              </a:spcBef>
              <a:spcAft>
                <a:spcPts val="0"/>
              </a:spcAft>
              <a:buSzPts val="8772"/>
              <a:buChar char="■"/>
              <a:defRPr sz="877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745509" y="2992996"/>
            <a:ext cx="48650100" cy="271992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1pPr>
            <a:lvl2pPr lvl="1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2pPr>
            <a:lvl3pPr lvl="2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3pPr>
            <a:lvl4pPr lvl="3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4pPr>
            <a:lvl5pPr lvl="4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5pPr>
            <a:lvl6pPr lvl="5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6pPr>
            <a:lvl7pPr lvl="6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7pPr>
            <a:lvl8pPr lvl="7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8pPr>
            <a:lvl9pPr lvl="8">
              <a:spcBef>
                <a:spcPts val="0"/>
              </a:spcBef>
              <a:spcAft>
                <a:spcPts val="0"/>
              </a:spcAft>
              <a:buSzPts val="35086"/>
              <a:buNone/>
              <a:defRPr sz="35086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930075" y="-831"/>
            <a:ext cx="34930200" cy="341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8275" lIns="668275" spcFirstLastPara="1" rIns="668275" wrap="square" tIns="66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028420" y="8199241"/>
            <a:ext cx="30905400" cy="9855600"/>
          </a:xfrm>
          <a:prstGeom prst="rect">
            <a:avLst/>
          </a:prstGeom>
        </p:spPr>
        <p:txBody>
          <a:bodyPr anchorCtr="0" anchor="b" bIns="668275" lIns="668275" spcFirstLastPara="1" rIns="668275" wrap="square" tIns="668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700"/>
              <a:buNone/>
              <a:defRPr sz="307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028420" y="18637329"/>
            <a:ext cx="30905400" cy="82119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50"/>
              <a:buNone/>
              <a:defRPr sz="1535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7737775" y="4814293"/>
            <a:ext cx="29314800" cy="245682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indent="-1064090" lvl="0" marL="457200">
              <a:spcBef>
                <a:spcPts val="0"/>
              </a:spcBef>
              <a:spcAft>
                <a:spcPts val="0"/>
              </a:spcAft>
              <a:buSzPts val="13157"/>
              <a:buChar char="●"/>
              <a:defRPr sz="13157"/>
            </a:lvl1pPr>
            <a:lvl2pPr indent="-878426" lvl="1" marL="914400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2pPr>
            <a:lvl3pPr indent="-878426" lvl="2" marL="1371600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3pPr>
            <a:lvl4pPr indent="-878426" lvl="3" marL="1828800">
              <a:spcBef>
                <a:spcPts val="0"/>
              </a:spcBef>
              <a:spcAft>
                <a:spcPts val="0"/>
              </a:spcAft>
              <a:buSzPts val="10233"/>
              <a:buChar char="●"/>
              <a:defRPr sz="10233"/>
            </a:lvl4pPr>
            <a:lvl5pPr indent="-878426" lvl="4" marL="2286000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5pPr>
            <a:lvl6pPr indent="-878426" lvl="5" marL="2743200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6pPr>
            <a:lvl7pPr indent="-878426" lvl="6" marL="3200400">
              <a:spcBef>
                <a:spcPts val="0"/>
              </a:spcBef>
              <a:spcAft>
                <a:spcPts val="0"/>
              </a:spcAft>
              <a:buSzPts val="10233"/>
              <a:buChar char="●"/>
              <a:defRPr sz="10233"/>
            </a:lvl7pPr>
            <a:lvl8pPr indent="-878426" lvl="7" marL="3657600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8pPr>
            <a:lvl9pPr indent="-878426" lvl="8" marL="4114800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381388" y="28128615"/>
            <a:ext cx="45830700" cy="40233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157"/>
              <a:buNone/>
              <a:defRPr sz="13157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381388" y="7354500"/>
            <a:ext cx="65097300" cy="13055100"/>
          </a:xfrm>
          <a:prstGeom prst="rect">
            <a:avLst/>
          </a:prstGeom>
        </p:spPr>
        <p:txBody>
          <a:bodyPr anchorCtr="0" anchor="b" bIns="668275" lIns="668275" spcFirstLastPara="1" rIns="668275" wrap="square" tIns="668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1pPr>
            <a:lvl2pPr lvl="1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2pPr>
            <a:lvl3pPr lvl="2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3pPr>
            <a:lvl4pPr lvl="3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4pPr>
            <a:lvl5pPr lvl="4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5pPr>
            <a:lvl6pPr lvl="5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6pPr>
            <a:lvl7pPr lvl="6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7pPr>
            <a:lvl8pPr lvl="7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8pPr>
            <a:lvl9pPr lvl="8" algn="ctr">
              <a:spcBef>
                <a:spcPts val="0"/>
              </a:spcBef>
              <a:spcAft>
                <a:spcPts val="0"/>
              </a:spcAft>
              <a:buSzPts val="87716"/>
              <a:buNone/>
              <a:defRPr sz="87716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381388" y="20958788"/>
            <a:ext cx="65097300" cy="86490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>
            <a:lvl1pPr indent="-1064090" lvl="0" marL="457200" algn="ctr">
              <a:spcBef>
                <a:spcPts val="0"/>
              </a:spcBef>
              <a:spcAft>
                <a:spcPts val="0"/>
              </a:spcAft>
              <a:buSzPts val="13157"/>
              <a:buChar char="●"/>
              <a:defRPr sz="13157"/>
            </a:lvl1pPr>
            <a:lvl2pPr indent="-878426" lvl="1" marL="914400" algn="ctr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2pPr>
            <a:lvl3pPr indent="-878426" lvl="2" marL="1371600" algn="ctr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3pPr>
            <a:lvl4pPr indent="-878426" lvl="3" marL="1828800" algn="ctr">
              <a:spcBef>
                <a:spcPts val="0"/>
              </a:spcBef>
              <a:spcAft>
                <a:spcPts val="0"/>
              </a:spcAft>
              <a:buSzPts val="10233"/>
              <a:buChar char="●"/>
              <a:defRPr sz="10233"/>
            </a:lvl4pPr>
            <a:lvl5pPr indent="-878426" lvl="4" marL="2286000" algn="ctr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5pPr>
            <a:lvl6pPr indent="-878426" lvl="5" marL="2743200" algn="ctr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6pPr>
            <a:lvl7pPr indent="-878426" lvl="6" marL="3200400" algn="ctr">
              <a:spcBef>
                <a:spcPts val="0"/>
              </a:spcBef>
              <a:spcAft>
                <a:spcPts val="0"/>
              </a:spcAft>
              <a:buSzPts val="10233"/>
              <a:buChar char="●"/>
              <a:defRPr sz="10233"/>
            </a:lvl7pPr>
            <a:lvl8pPr indent="-878426" lvl="7" marL="3657600" algn="ctr">
              <a:spcBef>
                <a:spcPts val="0"/>
              </a:spcBef>
              <a:spcAft>
                <a:spcPts val="0"/>
              </a:spcAft>
              <a:buSzPts val="10233"/>
              <a:buChar char="○"/>
              <a:defRPr sz="10233"/>
            </a:lvl8pPr>
            <a:lvl9pPr indent="-878426" lvl="8" marL="4114800" algn="ctr">
              <a:spcBef>
                <a:spcPts val="0"/>
              </a:spcBef>
              <a:spcAft>
                <a:spcPts val="0"/>
              </a:spcAft>
              <a:buSzPts val="10233"/>
              <a:buChar char="■"/>
              <a:defRPr sz="10233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>
              <a:buNone/>
              <a:defRPr sz="7310"/>
            </a:lvl1pPr>
            <a:lvl2pPr lvl="1">
              <a:buNone/>
              <a:defRPr sz="7310"/>
            </a:lvl2pPr>
            <a:lvl3pPr lvl="2">
              <a:buNone/>
              <a:defRPr sz="7310"/>
            </a:lvl3pPr>
            <a:lvl4pPr lvl="3">
              <a:buNone/>
              <a:defRPr sz="7310"/>
            </a:lvl4pPr>
            <a:lvl5pPr lvl="4">
              <a:buNone/>
              <a:defRPr sz="7310"/>
            </a:lvl5pPr>
            <a:lvl6pPr lvl="5">
              <a:buNone/>
              <a:defRPr sz="7310"/>
            </a:lvl6pPr>
            <a:lvl7pPr lvl="6">
              <a:buNone/>
              <a:defRPr sz="7310"/>
            </a:lvl7pPr>
            <a:lvl8pPr lvl="7">
              <a:buNone/>
              <a:defRPr sz="7310"/>
            </a:lvl8pPr>
            <a:lvl9pPr lvl="8">
              <a:buNone/>
              <a:defRPr sz="731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81388" y="2958921"/>
            <a:ext cx="650973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68275" lIns="668275" spcFirstLastPara="1" rIns="668275" wrap="square" tIns="668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67"/>
              <a:buNone/>
              <a:defRPr sz="2046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81388" y="7662676"/>
            <a:ext cx="65097300" cy="227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8275" lIns="668275" spcFirstLastPara="1" rIns="668275" wrap="square" tIns="668275">
            <a:normAutofit/>
          </a:bodyPr>
          <a:lstStyle>
            <a:lvl1pPr indent="-106409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157"/>
              <a:buChar char="●"/>
              <a:defRPr sz="13157">
                <a:solidFill>
                  <a:schemeClr val="dk2"/>
                </a:solidFill>
              </a:defRPr>
            </a:lvl1pPr>
            <a:lvl2pPr indent="-878426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33"/>
              <a:buChar char="○"/>
              <a:defRPr sz="10233">
                <a:solidFill>
                  <a:schemeClr val="dk2"/>
                </a:solidFill>
              </a:defRPr>
            </a:lvl2pPr>
            <a:lvl3pPr indent="-878426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33"/>
              <a:buChar char="■"/>
              <a:defRPr sz="10233">
                <a:solidFill>
                  <a:schemeClr val="dk2"/>
                </a:solidFill>
              </a:defRPr>
            </a:lvl3pPr>
            <a:lvl4pPr indent="-878426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33"/>
              <a:buChar char="●"/>
              <a:defRPr sz="10233">
                <a:solidFill>
                  <a:schemeClr val="dk2"/>
                </a:solidFill>
              </a:defRPr>
            </a:lvl4pPr>
            <a:lvl5pPr indent="-878426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33"/>
              <a:buChar char="○"/>
              <a:defRPr sz="10233">
                <a:solidFill>
                  <a:schemeClr val="dk2"/>
                </a:solidFill>
              </a:defRPr>
            </a:lvl5pPr>
            <a:lvl6pPr indent="-878426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33"/>
              <a:buChar char="■"/>
              <a:defRPr sz="10233">
                <a:solidFill>
                  <a:schemeClr val="dk2"/>
                </a:solidFill>
              </a:defRPr>
            </a:lvl6pPr>
            <a:lvl7pPr indent="-878426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33"/>
              <a:buChar char="●"/>
              <a:defRPr sz="10233">
                <a:solidFill>
                  <a:schemeClr val="dk2"/>
                </a:solidFill>
              </a:defRPr>
            </a:lvl7pPr>
            <a:lvl8pPr indent="-87842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33"/>
              <a:buChar char="○"/>
              <a:defRPr sz="10233">
                <a:solidFill>
                  <a:schemeClr val="dk2"/>
                </a:solidFill>
              </a:defRPr>
            </a:lvl8pPr>
            <a:lvl9pPr indent="-87842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33"/>
              <a:buChar char="■"/>
              <a:defRPr sz="10233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4729568" y="31005201"/>
            <a:ext cx="4192200" cy="26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8275" lIns="668275" spcFirstLastPara="1" rIns="668275" wrap="square" tIns="668275">
            <a:normAutofit/>
          </a:bodyPr>
          <a:lstStyle>
            <a:lvl1pPr lvl="0" algn="r">
              <a:buNone/>
              <a:defRPr sz="7310">
                <a:solidFill>
                  <a:schemeClr val="dk2"/>
                </a:solidFill>
              </a:defRPr>
            </a:lvl1pPr>
            <a:lvl2pPr lvl="1" algn="r">
              <a:buNone/>
              <a:defRPr sz="7310">
                <a:solidFill>
                  <a:schemeClr val="dk2"/>
                </a:solidFill>
              </a:defRPr>
            </a:lvl2pPr>
            <a:lvl3pPr lvl="2" algn="r">
              <a:buNone/>
              <a:defRPr sz="7310">
                <a:solidFill>
                  <a:schemeClr val="dk2"/>
                </a:solidFill>
              </a:defRPr>
            </a:lvl3pPr>
            <a:lvl4pPr lvl="3" algn="r">
              <a:buNone/>
              <a:defRPr sz="7310">
                <a:solidFill>
                  <a:schemeClr val="dk2"/>
                </a:solidFill>
              </a:defRPr>
            </a:lvl4pPr>
            <a:lvl5pPr lvl="4" algn="r">
              <a:buNone/>
              <a:defRPr sz="7310">
                <a:solidFill>
                  <a:schemeClr val="dk2"/>
                </a:solidFill>
              </a:defRPr>
            </a:lvl5pPr>
            <a:lvl6pPr lvl="5" algn="r">
              <a:buNone/>
              <a:defRPr sz="7310">
                <a:solidFill>
                  <a:schemeClr val="dk2"/>
                </a:solidFill>
              </a:defRPr>
            </a:lvl6pPr>
            <a:lvl7pPr lvl="6" algn="r">
              <a:buNone/>
              <a:defRPr sz="7310">
                <a:solidFill>
                  <a:schemeClr val="dk2"/>
                </a:solidFill>
              </a:defRPr>
            </a:lvl7pPr>
            <a:lvl8pPr lvl="7" algn="r">
              <a:buNone/>
              <a:defRPr sz="7310">
                <a:solidFill>
                  <a:schemeClr val="dk2"/>
                </a:solidFill>
              </a:defRPr>
            </a:lvl8pPr>
            <a:lvl9pPr lvl="8" algn="r">
              <a:buNone/>
              <a:defRPr sz="731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13" Type="http://schemas.openxmlformats.org/officeDocument/2006/relationships/image" Target="../media/image1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5" Type="http://schemas.openxmlformats.org/officeDocument/2006/relationships/image" Target="../media/image12.png"/><Relationship Id="rId14" Type="http://schemas.openxmlformats.org/officeDocument/2006/relationships/image" Target="../media/image14.png"/><Relationship Id="rId17" Type="http://schemas.openxmlformats.org/officeDocument/2006/relationships/image" Target="../media/image7.png"/><Relationship Id="rId16" Type="http://schemas.openxmlformats.org/officeDocument/2006/relationships/image" Target="../media/image4.png"/><Relationship Id="rId5" Type="http://schemas.openxmlformats.org/officeDocument/2006/relationships/image" Target="../media/image3.png"/><Relationship Id="rId19" Type="http://schemas.openxmlformats.org/officeDocument/2006/relationships/image" Target="../media/image17.png"/><Relationship Id="rId6" Type="http://schemas.openxmlformats.org/officeDocument/2006/relationships/image" Target="../media/image5.png"/><Relationship Id="rId18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13" Type="http://schemas.openxmlformats.org/officeDocument/2006/relationships/image" Target="../media/image1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5" Type="http://schemas.openxmlformats.org/officeDocument/2006/relationships/image" Target="../media/image12.png"/><Relationship Id="rId14" Type="http://schemas.openxmlformats.org/officeDocument/2006/relationships/image" Target="../media/image14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13" Type="http://schemas.openxmlformats.org/officeDocument/2006/relationships/image" Target="../media/image1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5" Type="http://schemas.openxmlformats.org/officeDocument/2006/relationships/image" Target="../media/image12.png"/><Relationship Id="rId14" Type="http://schemas.openxmlformats.org/officeDocument/2006/relationships/image" Target="../media/image14.png"/><Relationship Id="rId16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50" y="0"/>
            <a:ext cx="69860100" cy="48210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28850" lIns="28850" spcFirstLastPara="1" rIns="28850" wrap="square" tIns="2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Calibri"/>
              <a:buNone/>
            </a:pPr>
            <a:r>
              <a:t/>
            </a:r>
            <a:endParaRPr b="0" i="0" sz="7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823450" y="163572"/>
            <a:ext cx="50928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8850" lIns="28850" spcFirstLastPara="1" rIns="28850" wrap="square" tIns="288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720"/>
              </a:spcBef>
              <a:spcAft>
                <a:spcPts val="72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lang="en" sz="11500">
                <a:solidFill>
                  <a:srgbClr val="FFAB40"/>
                </a:solidFill>
                <a:latin typeface="Lato"/>
                <a:ea typeface="Lato"/>
                <a:cs typeface="Lato"/>
                <a:sym typeface="Lato"/>
              </a:rPr>
              <a:t>GEPA: Reflective Prompt Evolution Can Outperform Reinforcement Learning</a:t>
            </a:r>
            <a:endParaRPr b="1" sz="11500">
              <a:solidFill>
                <a:srgbClr val="FFAB4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4406225" y="1949143"/>
            <a:ext cx="50345400" cy="23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6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Lakshya A Agrawal</a:t>
            </a:r>
            <a:r>
              <a:rPr lang="en" sz="6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Shangyin Tan, Dilara Soylu, Noah Ziems, Rishi Khare, Krista Opsahl-Ong, Arnav Singhvi, Herumb Shandilya, Michael J Ryan, Meng Jiang, Christopher Potts, Koushik Sen, Alexandros G. Dimakis, Ion Stoica, Dan Klein, Matei Zaharia, Omar Khattab</a:t>
            </a:r>
            <a:endParaRPr sz="6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26463" l="0" r="73722" t="26307"/>
          <a:stretch/>
        </p:blipFill>
        <p:spPr>
          <a:xfrm>
            <a:off x="301190" y="325761"/>
            <a:ext cx="3675320" cy="37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22023" l="21562" r="19911" t="22362"/>
          <a:stretch/>
        </p:blipFill>
        <p:spPr>
          <a:xfrm>
            <a:off x="3958752" y="694710"/>
            <a:ext cx="3289049" cy="31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b="24466" l="0" r="77525" t="0"/>
          <a:stretch/>
        </p:blipFill>
        <p:spPr>
          <a:xfrm>
            <a:off x="10913223" y="594054"/>
            <a:ext cx="2889367" cy="3125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qrcode_gep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55248" y="156420"/>
            <a:ext cx="4345550" cy="434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7">
            <a:alphaModFix/>
          </a:blip>
          <a:srcRect b="0" l="0" r="72833" t="0"/>
          <a:stretch/>
        </p:blipFill>
        <p:spPr>
          <a:xfrm>
            <a:off x="7431075" y="413757"/>
            <a:ext cx="3106048" cy="341649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 rot="305527">
            <a:off x="1974376" y="19049601"/>
            <a:ext cx="16788210" cy="4177731"/>
          </a:xfrm>
          <a:custGeom>
            <a:rect b="b" l="l" r="r" t="t"/>
            <a:pathLst>
              <a:path extrusionOk="0" h="1391676" w="5518796">
                <a:moveTo>
                  <a:pt x="0" y="641531"/>
                </a:moveTo>
                <a:cubicBezTo>
                  <a:pt x="135466" y="978787"/>
                  <a:pt x="532060" y="1253505"/>
                  <a:pt x="1271900" y="1352058"/>
                </a:cubicBezTo>
                <a:cubicBezTo>
                  <a:pt x="2011740" y="1450612"/>
                  <a:pt x="3735687" y="1348026"/>
                  <a:pt x="4439040" y="1232852"/>
                </a:cubicBezTo>
                <a:cubicBezTo>
                  <a:pt x="5142393" y="1117679"/>
                  <a:pt x="5322975" y="956087"/>
                  <a:pt x="5492018" y="661017"/>
                </a:cubicBezTo>
                <a:cubicBezTo>
                  <a:pt x="5569485" y="447119"/>
                  <a:pt x="5458177" y="11289"/>
                  <a:pt x="5418666" y="0"/>
                </a:cubicBezTo>
              </a:path>
            </a:pathLst>
          </a:cu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18700" lIns="237500" spcFirstLastPara="1" rIns="237500" wrap="square" tIns="118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95">
                <a:solidFill>
                  <a:srgbClr val="FFFFFF"/>
                </a:solidFill>
              </a:rPr>
              <a:t>1</a:t>
            </a:r>
            <a:endParaRPr b="0" i="0" sz="519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3"/>
          <p:cNvGrpSpPr/>
          <p:nvPr/>
        </p:nvGrpSpPr>
        <p:grpSpPr>
          <a:xfrm>
            <a:off x="978398" y="8362224"/>
            <a:ext cx="2798342" cy="3060052"/>
            <a:chOff x="719200" y="1699824"/>
            <a:chExt cx="2223377" cy="2787948"/>
          </a:xfrm>
        </p:grpSpPr>
        <p:pic>
          <p:nvPicPr>
            <p:cNvPr id="64" name="Google Shape;64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19200" y="16998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  <p:pic>
          <p:nvPicPr>
            <p:cNvPr id="65" name="Google Shape;65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71600" y="18522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  <p:pic>
          <p:nvPicPr>
            <p:cNvPr id="66" name="Google Shape;66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4000" y="20046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</p:grpSp>
      <p:sp>
        <p:nvSpPr>
          <p:cNvPr id="67" name="Google Shape;67;p13"/>
          <p:cNvSpPr txBox="1"/>
          <p:nvPr/>
        </p:nvSpPr>
        <p:spPr>
          <a:xfrm>
            <a:off x="4584775" y="9028805"/>
            <a:ext cx="14515500" cy="22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775" lIns="315775" spcFirstLastPara="1" rIns="315775" wrap="square" tIns="315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44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availability</a:t>
            </a:r>
            <a:r>
              <a:rPr lang="en" sz="5144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5144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domain specific knowledge resources</a:t>
            </a:r>
            <a:endParaRPr sz="5144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2741" y="11797594"/>
            <a:ext cx="3629454" cy="362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2804" y="13635916"/>
            <a:ext cx="2163439" cy="216346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4429351" y="12105805"/>
            <a:ext cx="145155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775" lIns="315775" spcFirstLastPara="1" rIns="315775" wrap="square" tIns="315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44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Expensive rollouts:</a:t>
            </a:r>
            <a:r>
              <a:rPr lang="en" sz="5144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either the LLM workflow for the task or the task metric is slow/expensive to execute</a:t>
            </a:r>
            <a:endParaRPr sz="5144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570655" y="6528706"/>
            <a:ext cx="163851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50" lIns="156750" spcFirstLastPara="1" rIns="156750" wrap="square" tIns="156750">
            <a:spAutoFit/>
          </a:bodyPr>
          <a:lstStyle/>
          <a:p>
            <a:pPr indent="0" lvl="0" marL="174197" rtl="0" algn="ctr">
              <a:lnSpc>
                <a:spcPct val="90000"/>
              </a:lnSpc>
              <a:spcBef>
                <a:spcPts val="1372"/>
              </a:spcBef>
              <a:spcAft>
                <a:spcPts val="0"/>
              </a:spcAft>
              <a:buNone/>
            </a:pPr>
            <a:r>
              <a:rPr b="1" lang="en" sz="4801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FLOPS get cheaper, progress in many AI capabilities will be bottlenecked by sample efficiency!</a:t>
            </a:r>
            <a:endParaRPr b="1" sz="4801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A colorful network with dots and lines&#10;&#10;AI-generated content may be incorrect." id="72" name="Google Shape;7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8417" y="17899676"/>
            <a:ext cx="2168155" cy="21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610820" y="16425287"/>
            <a:ext cx="25281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</a:t>
            </a:r>
            <a:endParaRPr sz="3637"/>
          </a:p>
        </p:txBody>
      </p:sp>
      <p:sp>
        <p:nvSpPr>
          <p:cNvPr id="74" name="Google Shape;74;p13"/>
          <p:cNvSpPr txBox="1"/>
          <p:nvPr/>
        </p:nvSpPr>
        <p:spPr>
          <a:xfrm>
            <a:off x="7886758" y="1540900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1</a:t>
            </a:r>
            <a:endParaRPr sz="3637"/>
          </a:p>
        </p:txBody>
      </p:sp>
      <p:sp>
        <p:nvSpPr>
          <p:cNvPr id="75" name="Google Shape;75;p13"/>
          <p:cNvSpPr txBox="1"/>
          <p:nvPr/>
        </p:nvSpPr>
        <p:spPr>
          <a:xfrm>
            <a:off x="7955535" y="1743390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2</a:t>
            </a:r>
            <a:endParaRPr sz="3637"/>
          </a:p>
        </p:txBody>
      </p:sp>
      <p:sp>
        <p:nvSpPr>
          <p:cNvPr id="76" name="Google Shape;76;p13"/>
          <p:cNvSpPr txBox="1"/>
          <p:nvPr/>
        </p:nvSpPr>
        <p:spPr>
          <a:xfrm>
            <a:off x="7955535" y="1965958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3</a:t>
            </a:r>
            <a:endParaRPr sz="3637"/>
          </a:p>
        </p:txBody>
      </p:sp>
      <p:sp>
        <p:nvSpPr>
          <p:cNvPr id="77" name="Google Shape;77;p13"/>
          <p:cNvSpPr txBox="1"/>
          <p:nvPr/>
        </p:nvSpPr>
        <p:spPr>
          <a:xfrm>
            <a:off x="13848689" y="15429258"/>
            <a:ext cx="33336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Rewards</a:t>
            </a:r>
            <a:endParaRPr sz="3637"/>
          </a:p>
        </p:txBody>
      </p:sp>
      <p:sp>
        <p:nvSpPr>
          <p:cNvPr id="78" name="Google Shape;78;p13"/>
          <p:cNvSpPr txBox="1"/>
          <p:nvPr/>
        </p:nvSpPr>
        <p:spPr>
          <a:xfrm>
            <a:off x="15009024" y="16370391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3637"/>
          </a:p>
        </p:txBody>
      </p:sp>
      <p:sp>
        <p:nvSpPr>
          <p:cNvPr id="79" name="Google Shape;79;p13"/>
          <p:cNvSpPr txBox="1"/>
          <p:nvPr/>
        </p:nvSpPr>
        <p:spPr>
          <a:xfrm>
            <a:off x="15002979" y="18475593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3637"/>
          </a:p>
        </p:txBody>
      </p:sp>
      <p:sp>
        <p:nvSpPr>
          <p:cNvPr id="80" name="Google Shape;80;p13"/>
          <p:cNvSpPr txBox="1"/>
          <p:nvPr/>
        </p:nvSpPr>
        <p:spPr>
          <a:xfrm>
            <a:off x="15009036" y="20565769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3637"/>
          </a:p>
        </p:txBody>
      </p:sp>
      <p:sp>
        <p:nvSpPr>
          <p:cNvPr id="81" name="Google Shape;81;p13"/>
          <p:cNvSpPr txBox="1"/>
          <p:nvPr/>
        </p:nvSpPr>
        <p:spPr>
          <a:xfrm>
            <a:off x="6943793" y="16380954"/>
            <a:ext cx="63711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💬→💭→💻→ 💬</a:t>
            </a:r>
            <a:endParaRPr sz="3637"/>
          </a:p>
        </p:txBody>
      </p:sp>
      <p:sp>
        <p:nvSpPr>
          <p:cNvPr id="82" name="Google Shape;82;p13"/>
          <p:cNvSpPr txBox="1"/>
          <p:nvPr/>
        </p:nvSpPr>
        <p:spPr>
          <a:xfrm>
            <a:off x="6226124" y="18458430"/>
            <a:ext cx="10651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💬→🔎→💭→🔧→ 💬</a:t>
            </a:r>
            <a:endParaRPr sz="3637"/>
          </a:p>
        </p:txBody>
      </p:sp>
      <p:sp>
        <p:nvSpPr>
          <p:cNvPr id="83" name="Google Shape;83;p13"/>
          <p:cNvSpPr txBox="1"/>
          <p:nvPr/>
        </p:nvSpPr>
        <p:spPr>
          <a:xfrm>
            <a:off x="6605362" y="20535969"/>
            <a:ext cx="10651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💬→🔎 →💭→💬</a:t>
            </a:r>
            <a:endParaRPr sz="3637"/>
          </a:p>
        </p:txBody>
      </p:sp>
      <p:cxnSp>
        <p:nvCxnSpPr>
          <p:cNvPr id="84" name="Google Shape;84;p13"/>
          <p:cNvCxnSpPr/>
          <p:nvPr/>
        </p:nvCxnSpPr>
        <p:spPr>
          <a:xfrm flipH="1" rot="10800000">
            <a:off x="3817010" y="16676271"/>
            <a:ext cx="1661700" cy="11901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" name="Google Shape;85;p13"/>
          <p:cNvCxnSpPr/>
          <p:nvPr/>
        </p:nvCxnSpPr>
        <p:spPr>
          <a:xfrm>
            <a:off x="3759537" y="19831269"/>
            <a:ext cx="1524600" cy="13383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" name="Google Shape;86;p13"/>
          <p:cNvCxnSpPr/>
          <p:nvPr/>
        </p:nvCxnSpPr>
        <p:spPr>
          <a:xfrm flipH="1" rot="10800000">
            <a:off x="3765387" y="18814569"/>
            <a:ext cx="1661700" cy="438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" name="Google Shape;87;p13"/>
          <p:cNvCxnSpPr/>
          <p:nvPr/>
        </p:nvCxnSpPr>
        <p:spPr>
          <a:xfrm flipH="1" rot="10800000">
            <a:off x="13241311" y="16874826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" name="Google Shape;88;p13"/>
          <p:cNvCxnSpPr/>
          <p:nvPr/>
        </p:nvCxnSpPr>
        <p:spPr>
          <a:xfrm flipH="1" rot="10800000">
            <a:off x="13314152" y="18917760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13"/>
          <p:cNvCxnSpPr/>
          <p:nvPr/>
        </p:nvCxnSpPr>
        <p:spPr>
          <a:xfrm flipH="1" rot="10800000">
            <a:off x="13306642" y="21000064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" name="Google Shape;90;p13"/>
          <p:cNvCxnSpPr>
            <a:endCxn id="62" idx="4"/>
          </p:cNvCxnSpPr>
          <p:nvPr/>
        </p:nvCxnSpPr>
        <p:spPr>
          <a:xfrm>
            <a:off x="16618815" y="17280130"/>
            <a:ext cx="2066400" cy="23208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1" name="Google Shape;91;p13"/>
          <p:cNvCxnSpPr>
            <a:endCxn id="62" idx="4"/>
          </p:cNvCxnSpPr>
          <p:nvPr/>
        </p:nvCxnSpPr>
        <p:spPr>
          <a:xfrm flipH="1" rot="10800000">
            <a:off x="16618815" y="19600369"/>
            <a:ext cx="2066400" cy="627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2" name="Google Shape;92;p13"/>
          <p:cNvCxnSpPr>
            <a:endCxn id="62" idx="4"/>
          </p:cNvCxnSpPr>
          <p:nvPr/>
        </p:nvCxnSpPr>
        <p:spPr>
          <a:xfrm flipH="1" rot="10800000">
            <a:off x="16491722" y="19600417"/>
            <a:ext cx="2192400" cy="20193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3" name="Google Shape;93;p13"/>
          <p:cNvSpPr txBox="1"/>
          <p:nvPr/>
        </p:nvSpPr>
        <p:spPr>
          <a:xfrm>
            <a:off x="301199" y="23638012"/>
            <a:ext cx="18924000" cy="1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58775" lIns="117550" spcFirstLastPara="1" rIns="117550" wrap="square" tIns="58775">
            <a:spAutoFit/>
          </a:bodyPr>
          <a:lstStyle/>
          <a:p>
            <a:pPr indent="0" lvl="0" marL="17419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6"/>
              <a:buFont typeface="Arial"/>
              <a:buNone/>
            </a:pPr>
            <a:r>
              <a:rPr b="0" i="0" lang="en" sz="4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There was a lot of info in each rollout, but we only took a 0/1 score propagated via gradient descent. Can we use the other info?</a:t>
            </a:r>
            <a:endParaRPr sz="4800">
              <a:solidFill>
                <a:srgbClr val="FF0000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95600" y="5038680"/>
            <a:ext cx="19135200" cy="13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7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Motivation</a:t>
            </a:r>
            <a:endParaRPr b="1" i="0" sz="7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12">
            <a:alphaModFix/>
          </a:blip>
          <a:srcRect b="90803" l="0" r="0" t="3668"/>
          <a:stretch/>
        </p:blipFill>
        <p:spPr>
          <a:xfrm>
            <a:off x="19340725" y="15440804"/>
            <a:ext cx="20006108" cy="119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12">
            <a:alphaModFix/>
          </a:blip>
          <a:srcRect b="8441" l="0" r="0" t="12452"/>
          <a:stretch/>
        </p:blipFill>
        <p:spPr>
          <a:xfrm>
            <a:off x="19362318" y="16679041"/>
            <a:ext cx="20006108" cy="1709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15147" y="26415303"/>
            <a:ext cx="19049280" cy="365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125795" y="17549029"/>
            <a:ext cx="16794657" cy="8983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/>
          <p:nvPr/>
        </p:nvSpPr>
        <p:spPr>
          <a:xfrm>
            <a:off x="39840433" y="15360877"/>
            <a:ext cx="19049700" cy="1688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01500" lIns="101500" spcFirstLastPara="1" rIns="101500" wrap="square" tIns="101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6"/>
              <a:buFont typeface="Lato"/>
              <a:buNone/>
            </a:pPr>
            <a:r>
              <a:rPr b="1" lang="en" sz="710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Pareto-based Candidate Selection is Important</a:t>
            </a:r>
            <a:endParaRPr b="1" i="0" sz="7108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553825" y="6233030"/>
            <a:ext cx="20027709" cy="740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/>
          <p:nvPr/>
        </p:nvSpPr>
        <p:spPr>
          <a:xfrm>
            <a:off x="19486300" y="13851442"/>
            <a:ext cx="19756800" cy="13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6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GEPA Generated Prompts are Incredibly Detailed!</a:t>
            </a:r>
            <a:endParaRPr b="1" i="0" sz="69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19591325" y="5047389"/>
            <a:ext cx="19709100" cy="13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7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GEPA is Highly Sample Efficient!</a:t>
            </a:r>
            <a:endParaRPr b="1" i="0" sz="7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3" name="Google Shape;103;p13"/>
          <p:cNvGrpSpPr/>
          <p:nvPr/>
        </p:nvGrpSpPr>
        <p:grpSpPr>
          <a:xfrm>
            <a:off x="20833210" y="6671121"/>
            <a:ext cx="2367767" cy="1191475"/>
            <a:chOff x="13879016" y="13413880"/>
            <a:chExt cx="1590600" cy="800400"/>
          </a:xfrm>
        </p:grpSpPr>
        <p:sp>
          <p:nvSpPr>
            <p:cNvPr id="104" name="Google Shape;104;p13"/>
            <p:cNvSpPr txBox="1"/>
            <p:nvPr/>
          </p:nvSpPr>
          <p:spPr>
            <a:xfrm>
              <a:off x="13879016" y="13413880"/>
              <a:ext cx="15906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100" lIns="136100" spcFirstLastPara="1" rIns="136100" wrap="square" tIns="136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954">
                  <a:solidFill>
                    <a:srgbClr val="3C78D8"/>
                  </a:solidFill>
                </a:rPr>
                <a:t>GEPA</a:t>
              </a:r>
              <a:endParaRPr sz="5954">
                <a:solidFill>
                  <a:srgbClr val="3C78D8"/>
                </a:solidFill>
              </a:endParaRPr>
            </a:p>
          </p:txBody>
        </p:sp>
        <p:cxnSp>
          <p:nvCxnSpPr>
            <p:cNvPr id="105" name="Google Shape;105;p13"/>
            <p:cNvCxnSpPr/>
            <p:nvPr/>
          </p:nvCxnSpPr>
          <p:spPr>
            <a:xfrm>
              <a:off x="14277622" y="14013460"/>
              <a:ext cx="734100" cy="199200"/>
            </a:xfrm>
            <a:prstGeom prst="straightConnector1">
              <a:avLst/>
            </a:prstGeom>
            <a:noFill/>
            <a:ln cap="flat" cmpd="sng" w="42525">
              <a:solidFill>
                <a:srgbClr val="3C78D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06" name="Google Shape;106;p13" title="Chart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9840424" y="7195459"/>
            <a:ext cx="4678931" cy="766566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pic>
      <p:pic>
        <p:nvPicPr>
          <p:cNvPr id="107" name="Google Shape;107;p13" title="Chart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4604607" y="7195459"/>
            <a:ext cx="4486559" cy="7665666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pic>
      <p:pic>
        <p:nvPicPr>
          <p:cNvPr id="108" name="Google Shape;108;p13" title="Chart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9176477" y="7195585"/>
            <a:ext cx="4345539" cy="7665541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19">
            <a:alphaModFix/>
          </a:blip>
          <a:srcRect b="67595" l="0" r="1176" t="0"/>
          <a:stretch/>
        </p:blipFill>
        <p:spPr>
          <a:xfrm>
            <a:off x="53691780" y="7051777"/>
            <a:ext cx="15769526" cy="3798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 rotWithShape="1">
          <a:blip r:embed="rId19">
            <a:alphaModFix/>
          </a:blip>
          <a:srcRect b="0" l="675" r="0" t="65266"/>
          <a:stretch/>
        </p:blipFill>
        <p:spPr>
          <a:xfrm>
            <a:off x="53780903" y="10789983"/>
            <a:ext cx="15849070" cy="40710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9840425" y="5033280"/>
            <a:ext cx="29620800" cy="13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7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GEPA is Highly Sample Efficient!</a:t>
            </a:r>
            <a:endParaRPr b="1" i="0" sz="7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>
            <a:off x="-50" y="0"/>
            <a:ext cx="69860100" cy="48210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28850" lIns="28850" spcFirstLastPara="1" rIns="28850" wrap="square" tIns="2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Calibri"/>
              <a:buNone/>
            </a:pPr>
            <a:r>
              <a:t/>
            </a:r>
            <a:endParaRPr b="0" i="0" sz="7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13940371" y="163572"/>
            <a:ext cx="50928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8850" lIns="28850" spcFirstLastPara="1" rIns="28850" wrap="square" tIns="288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720"/>
              </a:spcBef>
              <a:spcAft>
                <a:spcPts val="72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lang="en" sz="11500">
                <a:solidFill>
                  <a:srgbClr val="FDB517"/>
                </a:solidFill>
                <a:latin typeface="Lato"/>
                <a:ea typeface="Lato"/>
                <a:cs typeface="Lato"/>
                <a:sym typeface="Lato"/>
              </a:rPr>
              <a:t>GEPA: Reflective Prompt Evolution Can Outperform Reinforcement Learning</a:t>
            </a:r>
            <a:endParaRPr b="1" sz="11500">
              <a:solidFill>
                <a:srgbClr val="FDB51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4523146" y="1949143"/>
            <a:ext cx="50345400" cy="22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6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Lakshya A Agrawal</a:t>
            </a:r>
            <a:r>
              <a:rPr lang="en" sz="6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Shangyin Tan, Dilara Soylu, Noah Ziems, Rishi Khare, Krista Opsahl-Ong, Arnav Singhvi, Herumb Shandilya, Michael J Ryan, Meng Jiang, Christopher Potts, Koushik Sen, Alexandros G. Dimakis, Ion Stoica, Dan Klein, Matei Zaharia, Omar Khattab</a:t>
            </a:r>
            <a:endParaRPr sz="63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3">
            <a:alphaModFix/>
          </a:blip>
          <a:srcRect b="26463" l="0" r="73722" t="26307"/>
          <a:stretch/>
        </p:blipFill>
        <p:spPr>
          <a:xfrm>
            <a:off x="301190" y="552611"/>
            <a:ext cx="3675320" cy="37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/>
          <p:cNvPicPr preferRelativeResize="0"/>
          <p:nvPr/>
        </p:nvPicPr>
        <p:blipFill rotWithShape="1">
          <a:blip r:embed="rId4">
            <a:alphaModFix/>
          </a:blip>
          <a:srcRect b="22023" l="21562" r="19911" t="22362"/>
          <a:stretch/>
        </p:blipFill>
        <p:spPr>
          <a:xfrm>
            <a:off x="3958727" y="847872"/>
            <a:ext cx="3289049" cy="31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 rotWithShape="1">
          <a:blip r:embed="rId5">
            <a:alphaModFix/>
          </a:blip>
          <a:srcRect b="24466" l="0" r="77525" t="0"/>
          <a:stretch/>
        </p:blipFill>
        <p:spPr>
          <a:xfrm>
            <a:off x="10991708" y="847892"/>
            <a:ext cx="2889367" cy="3125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title="qrcode_gep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52156" y="519675"/>
            <a:ext cx="3798300" cy="379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23" name="Google Shape;123;p14"/>
          <p:cNvPicPr preferRelativeResize="0"/>
          <p:nvPr/>
        </p:nvPicPr>
        <p:blipFill rotWithShape="1">
          <a:blip r:embed="rId7">
            <a:alphaModFix/>
          </a:blip>
          <a:srcRect b="0" l="0" r="72833" t="0"/>
          <a:stretch/>
        </p:blipFill>
        <p:spPr>
          <a:xfrm>
            <a:off x="7549084" y="702257"/>
            <a:ext cx="3106048" cy="3416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/>
          <p:nvPr/>
        </p:nvSpPr>
        <p:spPr>
          <a:xfrm rot="305527">
            <a:off x="1974376" y="19049601"/>
            <a:ext cx="16788210" cy="4177731"/>
          </a:xfrm>
          <a:custGeom>
            <a:rect b="b" l="l" r="r" t="t"/>
            <a:pathLst>
              <a:path extrusionOk="0" h="1391676" w="5518796">
                <a:moveTo>
                  <a:pt x="0" y="641531"/>
                </a:moveTo>
                <a:cubicBezTo>
                  <a:pt x="135466" y="978787"/>
                  <a:pt x="532060" y="1253505"/>
                  <a:pt x="1271900" y="1352058"/>
                </a:cubicBezTo>
                <a:cubicBezTo>
                  <a:pt x="2011740" y="1450612"/>
                  <a:pt x="3735687" y="1348026"/>
                  <a:pt x="4439040" y="1232852"/>
                </a:cubicBezTo>
                <a:cubicBezTo>
                  <a:pt x="5142393" y="1117679"/>
                  <a:pt x="5322975" y="956087"/>
                  <a:pt x="5492018" y="661017"/>
                </a:cubicBezTo>
                <a:cubicBezTo>
                  <a:pt x="5569485" y="447119"/>
                  <a:pt x="5458177" y="11289"/>
                  <a:pt x="5418666" y="0"/>
                </a:cubicBezTo>
              </a:path>
            </a:pathLst>
          </a:cu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18700" lIns="237500" spcFirstLastPara="1" rIns="237500" wrap="square" tIns="118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95">
                <a:solidFill>
                  <a:srgbClr val="FFFFFF"/>
                </a:solidFill>
              </a:rPr>
              <a:t>1</a:t>
            </a:r>
            <a:endParaRPr b="0" i="0" sz="519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4"/>
          <p:cNvGrpSpPr/>
          <p:nvPr/>
        </p:nvGrpSpPr>
        <p:grpSpPr>
          <a:xfrm>
            <a:off x="978398" y="8362224"/>
            <a:ext cx="2798342" cy="3060052"/>
            <a:chOff x="719200" y="1699824"/>
            <a:chExt cx="2223377" cy="2787948"/>
          </a:xfrm>
        </p:grpSpPr>
        <p:pic>
          <p:nvPicPr>
            <p:cNvPr id="126" name="Google Shape;126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19200" y="16998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  <p:pic>
          <p:nvPicPr>
            <p:cNvPr id="127" name="Google Shape;127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71600" y="18522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  <p:pic>
          <p:nvPicPr>
            <p:cNvPr id="128" name="Google Shape;128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4000" y="20046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</p:grpSp>
      <p:sp>
        <p:nvSpPr>
          <p:cNvPr id="129" name="Google Shape;129;p14"/>
          <p:cNvSpPr txBox="1"/>
          <p:nvPr/>
        </p:nvSpPr>
        <p:spPr>
          <a:xfrm>
            <a:off x="4584775" y="9028805"/>
            <a:ext cx="14515500" cy="22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775" lIns="315775" spcFirstLastPara="1" rIns="315775" wrap="square" tIns="315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44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Low availability</a:t>
            </a:r>
            <a:r>
              <a:rPr lang="en" sz="514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514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of domain specific knowledge resources</a:t>
            </a:r>
            <a:endParaRPr sz="514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2741" y="11797594"/>
            <a:ext cx="3629454" cy="362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2804" y="13635916"/>
            <a:ext cx="2163439" cy="216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4429351" y="12105805"/>
            <a:ext cx="145155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775" lIns="315775" spcFirstLastPara="1" rIns="315775" wrap="square" tIns="315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44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Expensive rollouts:</a:t>
            </a:r>
            <a:r>
              <a:rPr lang="en" sz="514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either the LLM workflow for the task or the task metric is slow/expensive to execute</a:t>
            </a:r>
            <a:endParaRPr sz="514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570655" y="6681106"/>
            <a:ext cx="163851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50" lIns="156750" spcFirstLastPara="1" rIns="156750" wrap="square" tIns="156750">
            <a:spAutoFit/>
          </a:bodyPr>
          <a:lstStyle/>
          <a:p>
            <a:pPr indent="-533443" lvl="0" marL="457200" rtl="0" algn="l">
              <a:lnSpc>
                <a:spcPct val="90000"/>
              </a:lnSpc>
              <a:spcBef>
                <a:spcPts val="1372"/>
              </a:spcBef>
              <a:spcAft>
                <a:spcPts val="0"/>
              </a:spcAft>
              <a:buClr>
                <a:srgbClr val="980000"/>
              </a:buClr>
              <a:buSzPts val="4801"/>
              <a:buFont typeface="Helvetica Neue"/>
              <a:buAutoNum type="arabicPeriod"/>
            </a:pPr>
            <a:r>
              <a:rPr b="1" lang="en" sz="4801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FLOPS get cheaper, progress in many AI capabilities will be bottlenecked by sample efficiency!</a:t>
            </a:r>
            <a:endParaRPr b="1" sz="4801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A colorful network with dots and lines&#10;&#10;AI-generated content may be incorrect." id="134" name="Google Shape;13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8417" y="17899676"/>
            <a:ext cx="2168155" cy="21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610820" y="16425287"/>
            <a:ext cx="25281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</a:t>
            </a:r>
            <a:endParaRPr sz="3637"/>
          </a:p>
        </p:txBody>
      </p:sp>
      <p:sp>
        <p:nvSpPr>
          <p:cNvPr id="136" name="Google Shape;136;p14"/>
          <p:cNvSpPr txBox="1"/>
          <p:nvPr/>
        </p:nvSpPr>
        <p:spPr>
          <a:xfrm>
            <a:off x="7886758" y="1540900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1</a:t>
            </a:r>
            <a:endParaRPr sz="3637"/>
          </a:p>
        </p:txBody>
      </p:sp>
      <p:sp>
        <p:nvSpPr>
          <p:cNvPr id="137" name="Google Shape;137;p14"/>
          <p:cNvSpPr txBox="1"/>
          <p:nvPr/>
        </p:nvSpPr>
        <p:spPr>
          <a:xfrm>
            <a:off x="7955535" y="1743390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2</a:t>
            </a:r>
            <a:endParaRPr sz="3637"/>
          </a:p>
        </p:txBody>
      </p:sp>
      <p:sp>
        <p:nvSpPr>
          <p:cNvPr id="138" name="Google Shape;138;p14"/>
          <p:cNvSpPr txBox="1"/>
          <p:nvPr/>
        </p:nvSpPr>
        <p:spPr>
          <a:xfrm>
            <a:off x="7955535" y="1965958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3</a:t>
            </a:r>
            <a:endParaRPr sz="3637"/>
          </a:p>
        </p:txBody>
      </p:sp>
      <p:sp>
        <p:nvSpPr>
          <p:cNvPr id="139" name="Google Shape;139;p14"/>
          <p:cNvSpPr txBox="1"/>
          <p:nvPr/>
        </p:nvSpPr>
        <p:spPr>
          <a:xfrm>
            <a:off x="13848689" y="15429258"/>
            <a:ext cx="33336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Rewards</a:t>
            </a:r>
            <a:endParaRPr sz="3637"/>
          </a:p>
        </p:txBody>
      </p:sp>
      <p:sp>
        <p:nvSpPr>
          <p:cNvPr id="140" name="Google Shape;140;p14"/>
          <p:cNvSpPr txBox="1"/>
          <p:nvPr/>
        </p:nvSpPr>
        <p:spPr>
          <a:xfrm>
            <a:off x="15009024" y="16370391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3637"/>
          </a:p>
        </p:txBody>
      </p:sp>
      <p:sp>
        <p:nvSpPr>
          <p:cNvPr id="141" name="Google Shape;141;p14"/>
          <p:cNvSpPr txBox="1"/>
          <p:nvPr/>
        </p:nvSpPr>
        <p:spPr>
          <a:xfrm>
            <a:off x="15002979" y="18475593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3637"/>
          </a:p>
        </p:txBody>
      </p:sp>
      <p:sp>
        <p:nvSpPr>
          <p:cNvPr id="142" name="Google Shape;142;p14"/>
          <p:cNvSpPr txBox="1"/>
          <p:nvPr/>
        </p:nvSpPr>
        <p:spPr>
          <a:xfrm>
            <a:off x="15009036" y="20565769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3637"/>
          </a:p>
        </p:txBody>
      </p:sp>
      <p:sp>
        <p:nvSpPr>
          <p:cNvPr id="143" name="Google Shape;143;p14"/>
          <p:cNvSpPr txBox="1"/>
          <p:nvPr/>
        </p:nvSpPr>
        <p:spPr>
          <a:xfrm>
            <a:off x="6943793" y="16380954"/>
            <a:ext cx="63711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💬→💭→💻→ 💬</a:t>
            </a:r>
            <a:endParaRPr sz="3637"/>
          </a:p>
        </p:txBody>
      </p:sp>
      <p:sp>
        <p:nvSpPr>
          <p:cNvPr id="144" name="Google Shape;144;p14"/>
          <p:cNvSpPr txBox="1"/>
          <p:nvPr/>
        </p:nvSpPr>
        <p:spPr>
          <a:xfrm>
            <a:off x="6226124" y="18458430"/>
            <a:ext cx="10651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💬→🔎→💭→🔧→ 💬</a:t>
            </a:r>
            <a:endParaRPr sz="3637"/>
          </a:p>
        </p:txBody>
      </p:sp>
      <p:sp>
        <p:nvSpPr>
          <p:cNvPr id="145" name="Google Shape;145;p14"/>
          <p:cNvSpPr txBox="1"/>
          <p:nvPr/>
        </p:nvSpPr>
        <p:spPr>
          <a:xfrm>
            <a:off x="6605362" y="20535969"/>
            <a:ext cx="10651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💬→🔎 →💭→💬</a:t>
            </a:r>
            <a:endParaRPr sz="3637"/>
          </a:p>
        </p:txBody>
      </p:sp>
      <p:cxnSp>
        <p:nvCxnSpPr>
          <p:cNvPr id="146" name="Google Shape;146;p14"/>
          <p:cNvCxnSpPr/>
          <p:nvPr/>
        </p:nvCxnSpPr>
        <p:spPr>
          <a:xfrm flipH="1" rot="10800000">
            <a:off x="3817010" y="16676271"/>
            <a:ext cx="1661700" cy="11901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14"/>
          <p:cNvCxnSpPr/>
          <p:nvPr/>
        </p:nvCxnSpPr>
        <p:spPr>
          <a:xfrm>
            <a:off x="3759537" y="19831269"/>
            <a:ext cx="1524600" cy="13383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14"/>
          <p:cNvCxnSpPr/>
          <p:nvPr/>
        </p:nvCxnSpPr>
        <p:spPr>
          <a:xfrm flipH="1" rot="10800000">
            <a:off x="3765387" y="18814569"/>
            <a:ext cx="1661700" cy="438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p14"/>
          <p:cNvCxnSpPr/>
          <p:nvPr/>
        </p:nvCxnSpPr>
        <p:spPr>
          <a:xfrm flipH="1" rot="10800000">
            <a:off x="13241311" y="16874826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14"/>
          <p:cNvCxnSpPr/>
          <p:nvPr/>
        </p:nvCxnSpPr>
        <p:spPr>
          <a:xfrm flipH="1" rot="10800000">
            <a:off x="13314152" y="18917760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14"/>
          <p:cNvCxnSpPr/>
          <p:nvPr/>
        </p:nvCxnSpPr>
        <p:spPr>
          <a:xfrm flipH="1" rot="10800000">
            <a:off x="13306642" y="21000064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" name="Google Shape;152;p14"/>
          <p:cNvCxnSpPr>
            <a:endCxn id="124" idx="4"/>
          </p:cNvCxnSpPr>
          <p:nvPr/>
        </p:nvCxnSpPr>
        <p:spPr>
          <a:xfrm>
            <a:off x="16618815" y="17280130"/>
            <a:ext cx="2066400" cy="23208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3" name="Google Shape;153;p14"/>
          <p:cNvCxnSpPr>
            <a:endCxn id="124" idx="4"/>
          </p:cNvCxnSpPr>
          <p:nvPr/>
        </p:nvCxnSpPr>
        <p:spPr>
          <a:xfrm flipH="1" rot="10800000">
            <a:off x="16618815" y="19600369"/>
            <a:ext cx="2066400" cy="627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4" name="Google Shape;154;p14"/>
          <p:cNvCxnSpPr>
            <a:endCxn id="124" idx="4"/>
          </p:cNvCxnSpPr>
          <p:nvPr/>
        </p:nvCxnSpPr>
        <p:spPr>
          <a:xfrm flipH="1" rot="10800000">
            <a:off x="16491722" y="19600417"/>
            <a:ext cx="2192400" cy="20193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5" name="Google Shape;155;p14"/>
          <p:cNvSpPr txBox="1"/>
          <p:nvPr/>
        </p:nvSpPr>
        <p:spPr>
          <a:xfrm>
            <a:off x="301199" y="23638012"/>
            <a:ext cx="18924000" cy="1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58775" lIns="117550" spcFirstLastPara="1" rIns="117550" wrap="square" tIns="58775">
            <a:spAutoFit/>
          </a:bodyPr>
          <a:lstStyle/>
          <a:p>
            <a:pPr indent="0" lvl="0" marL="17419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6"/>
              <a:buFont typeface="Arial"/>
              <a:buNone/>
            </a:pPr>
            <a:r>
              <a:rPr i="0" lang="en" sz="48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There was a lot of info in each rollout, but we only took a 0/1 score propagated via gradient descent. Can we use the other info?</a:t>
            </a:r>
            <a:endParaRPr sz="4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195600" y="5038680"/>
            <a:ext cx="19135200" cy="13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7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Motivation</a:t>
            </a:r>
            <a:endParaRPr b="1" i="0" sz="7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7" name="Google Shape;157;p14"/>
          <p:cNvPicPr preferRelativeResize="0"/>
          <p:nvPr/>
        </p:nvPicPr>
        <p:blipFill rotWithShape="1">
          <a:blip r:embed="rId12">
            <a:alphaModFix/>
          </a:blip>
          <a:srcRect b="90803" l="0" r="0" t="3668"/>
          <a:stretch/>
        </p:blipFill>
        <p:spPr>
          <a:xfrm>
            <a:off x="19340725" y="15440804"/>
            <a:ext cx="20006108" cy="119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4"/>
          <p:cNvPicPr preferRelativeResize="0"/>
          <p:nvPr/>
        </p:nvPicPr>
        <p:blipFill rotWithShape="1">
          <a:blip r:embed="rId12">
            <a:alphaModFix/>
          </a:blip>
          <a:srcRect b="8441" l="0" r="0" t="12452"/>
          <a:stretch/>
        </p:blipFill>
        <p:spPr>
          <a:xfrm>
            <a:off x="19362318" y="16679041"/>
            <a:ext cx="20006108" cy="1709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891347" y="16101828"/>
            <a:ext cx="19049280" cy="365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201995" y="7235554"/>
            <a:ext cx="16794657" cy="8983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/>
          <p:nvPr/>
        </p:nvSpPr>
        <p:spPr>
          <a:xfrm>
            <a:off x="39916633" y="5047402"/>
            <a:ext cx="19049700" cy="1688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01500" lIns="101500" spcFirstLastPara="1" rIns="101500" wrap="square" tIns="101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6"/>
              <a:buFont typeface="Lato"/>
              <a:buNone/>
            </a:pPr>
            <a:r>
              <a:rPr b="1" lang="en" sz="710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Pareto-based Candidate Selection is Important</a:t>
            </a:r>
            <a:endParaRPr b="1" i="0" sz="7108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553825" y="6233030"/>
            <a:ext cx="20027709" cy="740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/>
          <p:nvPr/>
        </p:nvSpPr>
        <p:spPr>
          <a:xfrm>
            <a:off x="19486300" y="13851442"/>
            <a:ext cx="19756800" cy="13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6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GEPA Generated Prompts are Incredibly Detailed!</a:t>
            </a:r>
            <a:endParaRPr b="1" i="0" sz="69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19591325" y="5047389"/>
            <a:ext cx="19709100" cy="13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7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GEPA is Highly Sample Efficient!</a:t>
            </a:r>
            <a:endParaRPr b="1" i="0" sz="7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65" name="Google Shape;165;p14"/>
          <p:cNvGrpSpPr/>
          <p:nvPr/>
        </p:nvGrpSpPr>
        <p:grpSpPr>
          <a:xfrm>
            <a:off x="20833210" y="6671121"/>
            <a:ext cx="2367767" cy="1191475"/>
            <a:chOff x="13879016" y="13413880"/>
            <a:chExt cx="1590600" cy="800400"/>
          </a:xfrm>
        </p:grpSpPr>
        <p:sp>
          <p:nvSpPr>
            <p:cNvPr id="166" name="Google Shape;166;p14"/>
            <p:cNvSpPr txBox="1"/>
            <p:nvPr/>
          </p:nvSpPr>
          <p:spPr>
            <a:xfrm>
              <a:off x="13879016" y="13413880"/>
              <a:ext cx="15906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100" lIns="136100" spcFirstLastPara="1" rIns="136100" wrap="square" tIns="136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954">
                  <a:solidFill>
                    <a:srgbClr val="3C78D8"/>
                  </a:solidFill>
                </a:rPr>
                <a:t>GEPA</a:t>
              </a:r>
              <a:endParaRPr sz="5954">
                <a:solidFill>
                  <a:srgbClr val="3C78D8"/>
                </a:solidFill>
              </a:endParaRPr>
            </a:p>
          </p:txBody>
        </p:sp>
        <p:cxnSp>
          <p:nvCxnSpPr>
            <p:cNvPr id="167" name="Google Shape;167;p14"/>
            <p:cNvCxnSpPr/>
            <p:nvPr/>
          </p:nvCxnSpPr>
          <p:spPr>
            <a:xfrm>
              <a:off x="14277622" y="14013460"/>
              <a:ext cx="734100" cy="199200"/>
            </a:xfrm>
            <a:prstGeom prst="straightConnector1">
              <a:avLst/>
            </a:prstGeom>
            <a:noFill/>
            <a:ln cap="flat" cmpd="sng" w="42525">
              <a:solidFill>
                <a:srgbClr val="3C78D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8" name="Google Shape;168;p14"/>
          <p:cNvSpPr txBox="1"/>
          <p:nvPr/>
        </p:nvSpPr>
        <p:spPr>
          <a:xfrm>
            <a:off x="909555" y="25808181"/>
            <a:ext cx="163851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50" lIns="156750" spcFirstLastPara="1" rIns="156750" wrap="square" tIns="1567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372"/>
              </a:spcBef>
              <a:spcAft>
                <a:spcPts val="0"/>
              </a:spcAft>
              <a:buNone/>
            </a:pPr>
            <a:r>
              <a:rPr b="1" lang="en" sz="4801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How do we “train” frontier closed-source models?</a:t>
            </a:r>
            <a:endParaRPr b="1" sz="4801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39840433" y="20580577"/>
            <a:ext cx="19049700" cy="1688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01500" lIns="101500" spcFirstLastPara="1" rIns="101500" wrap="square" tIns="101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6"/>
              <a:buFont typeface="Lato"/>
              <a:buNone/>
            </a:pPr>
            <a:r>
              <a:rPr b="1" lang="en" sz="710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Prompt optimization to text optimization</a:t>
            </a:r>
            <a:endParaRPr b="1" i="0" sz="7108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0" name="Google Shape;170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9815150" y="22268975"/>
            <a:ext cx="1668780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 txBox="1"/>
          <p:nvPr/>
        </p:nvSpPr>
        <p:spPr>
          <a:xfrm>
            <a:off x="40055674" y="29501512"/>
            <a:ext cx="18924000" cy="23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775" lIns="117550" spcFirstLastPara="1" rIns="117550" wrap="square" tIns="58775">
            <a:spAutoFit/>
          </a:bodyPr>
          <a:lstStyle/>
          <a:p>
            <a:pPr indent="-533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Char char="●"/>
            </a:pPr>
            <a:r>
              <a:rPr lang="en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Any text (</a:t>
            </a:r>
            <a:r>
              <a:rPr lang="en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Prompt / Code / SVG / Essay / Config)</a:t>
            </a:r>
            <a:endParaRPr sz="4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33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Char char="●"/>
            </a:pPr>
            <a:r>
              <a:rPr lang="en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Any task (Single-task search, Multi-task search, Generalization)</a:t>
            </a:r>
            <a:endParaRPr sz="4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533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Char char="●"/>
            </a:pPr>
            <a:r>
              <a:rPr lang="en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Any algorithm (ShinkaEvolve, OpenEvolve, Combee)</a:t>
            </a:r>
            <a:endParaRPr sz="4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2" name="Google Shape;172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013663" y="25181438"/>
            <a:ext cx="18703200" cy="399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-50" y="0"/>
            <a:ext cx="69860100" cy="4821000"/>
          </a:xfrm>
          <a:prstGeom prst="rect">
            <a:avLst/>
          </a:prstGeom>
          <a:solidFill>
            <a:srgbClr val="18213A"/>
          </a:solidFill>
          <a:ln>
            <a:noFill/>
          </a:ln>
        </p:spPr>
        <p:txBody>
          <a:bodyPr anchorCtr="0" anchor="ctr" bIns="28850" lIns="28850" spcFirstLastPara="1" rIns="28850" wrap="square" tIns="2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Calibri"/>
              <a:buNone/>
            </a:pPr>
            <a:r>
              <a:t/>
            </a:r>
            <a:endParaRPr b="0" i="0" sz="7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13940371" y="163572"/>
            <a:ext cx="50928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8850" lIns="28850" spcFirstLastPara="1" rIns="28850" wrap="square" tIns="288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720"/>
              </a:spcBef>
              <a:spcAft>
                <a:spcPts val="72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lang="en" sz="11500">
                <a:solidFill>
                  <a:srgbClr val="FDB517"/>
                </a:solidFill>
                <a:latin typeface="Lato"/>
                <a:ea typeface="Lato"/>
                <a:cs typeface="Lato"/>
                <a:sym typeface="Lato"/>
              </a:rPr>
              <a:t>GEPA: Reflective Prompt Evolution Can Outperform Reinforcement Learning</a:t>
            </a:r>
            <a:endParaRPr b="1" sz="11500">
              <a:solidFill>
                <a:srgbClr val="FDB51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4523146" y="1949143"/>
            <a:ext cx="50345400" cy="22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6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Lakshya A Agrawal</a:t>
            </a:r>
            <a:r>
              <a:rPr lang="en" sz="6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Shangyin Tan, Dilara Soylu, Noah Ziems, Rishi Khare, Krista Opsahl-Ong, Arnav Singhvi, Herumb Shandilya, Michael J Ryan, Meng Jiang, Christopher Potts, Koushik Sen, Alexandros G. Dimakis, Ion Stoica, Dan Klein, Matei Zaharia, Omar Khattab</a:t>
            </a:r>
            <a:endParaRPr sz="63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p15"/>
          <p:cNvPicPr preferRelativeResize="0"/>
          <p:nvPr/>
        </p:nvPicPr>
        <p:blipFill rotWithShape="1">
          <a:blip r:embed="rId3">
            <a:alphaModFix/>
          </a:blip>
          <a:srcRect b="26463" l="0" r="73722" t="26307"/>
          <a:stretch/>
        </p:blipFill>
        <p:spPr>
          <a:xfrm>
            <a:off x="301190" y="552611"/>
            <a:ext cx="3675320" cy="37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/>
          <p:cNvPicPr preferRelativeResize="0"/>
          <p:nvPr/>
        </p:nvPicPr>
        <p:blipFill rotWithShape="1">
          <a:blip r:embed="rId4">
            <a:alphaModFix/>
          </a:blip>
          <a:srcRect b="22023" l="21562" r="19911" t="22362"/>
          <a:stretch/>
        </p:blipFill>
        <p:spPr>
          <a:xfrm>
            <a:off x="3958727" y="847872"/>
            <a:ext cx="3289049" cy="31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/>
          <p:cNvPicPr preferRelativeResize="0"/>
          <p:nvPr/>
        </p:nvPicPr>
        <p:blipFill rotWithShape="1">
          <a:blip r:embed="rId5">
            <a:alphaModFix/>
          </a:blip>
          <a:srcRect b="24466" l="0" r="77525" t="0"/>
          <a:stretch/>
        </p:blipFill>
        <p:spPr>
          <a:xfrm>
            <a:off x="10991708" y="847892"/>
            <a:ext cx="2889367" cy="3125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5" title="qrcode_gep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52156" y="519675"/>
            <a:ext cx="3798300" cy="379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84" name="Google Shape;184;p15"/>
          <p:cNvPicPr preferRelativeResize="0"/>
          <p:nvPr/>
        </p:nvPicPr>
        <p:blipFill rotWithShape="1">
          <a:blip r:embed="rId7">
            <a:alphaModFix/>
          </a:blip>
          <a:srcRect b="0" l="0" r="72833" t="0"/>
          <a:stretch/>
        </p:blipFill>
        <p:spPr>
          <a:xfrm>
            <a:off x="7549084" y="702257"/>
            <a:ext cx="3106048" cy="34164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/>
          <p:nvPr/>
        </p:nvSpPr>
        <p:spPr>
          <a:xfrm rot="305527">
            <a:off x="1974376" y="19049601"/>
            <a:ext cx="16788210" cy="4177731"/>
          </a:xfrm>
          <a:custGeom>
            <a:rect b="b" l="l" r="r" t="t"/>
            <a:pathLst>
              <a:path extrusionOk="0" h="1391676" w="5518796">
                <a:moveTo>
                  <a:pt x="0" y="641531"/>
                </a:moveTo>
                <a:cubicBezTo>
                  <a:pt x="135466" y="978787"/>
                  <a:pt x="532060" y="1253505"/>
                  <a:pt x="1271900" y="1352058"/>
                </a:cubicBezTo>
                <a:cubicBezTo>
                  <a:pt x="2011740" y="1450612"/>
                  <a:pt x="3735687" y="1348026"/>
                  <a:pt x="4439040" y="1232852"/>
                </a:cubicBezTo>
                <a:cubicBezTo>
                  <a:pt x="5142393" y="1117679"/>
                  <a:pt x="5322975" y="956087"/>
                  <a:pt x="5492018" y="661017"/>
                </a:cubicBezTo>
                <a:cubicBezTo>
                  <a:pt x="5569485" y="447119"/>
                  <a:pt x="5458177" y="11289"/>
                  <a:pt x="5418666" y="0"/>
                </a:cubicBezTo>
              </a:path>
            </a:pathLst>
          </a:cu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18700" lIns="237500" spcFirstLastPara="1" rIns="237500" wrap="square" tIns="118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95">
                <a:solidFill>
                  <a:srgbClr val="FFFFFF"/>
                </a:solidFill>
              </a:rPr>
              <a:t>1</a:t>
            </a:r>
            <a:endParaRPr b="0" i="0" sz="519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5"/>
          <p:cNvGrpSpPr/>
          <p:nvPr/>
        </p:nvGrpSpPr>
        <p:grpSpPr>
          <a:xfrm>
            <a:off x="978398" y="8362224"/>
            <a:ext cx="2798342" cy="3060052"/>
            <a:chOff x="719200" y="1699824"/>
            <a:chExt cx="2223377" cy="2787948"/>
          </a:xfrm>
        </p:grpSpPr>
        <p:pic>
          <p:nvPicPr>
            <p:cNvPr id="187" name="Google Shape;187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19200" y="16998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  <p:pic>
          <p:nvPicPr>
            <p:cNvPr id="188" name="Google Shape;188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71600" y="18522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  <p:pic>
          <p:nvPicPr>
            <p:cNvPr id="189" name="Google Shape;189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4000" y="2004624"/>
              <a:ext cx="1918577" cy="2483148"/>
            </a:xfrm>
            <a:prstGeom prst="rect">
              <a:avLst/>
            </a:prstGeom>
            <a:noFill/>
            <a:ln cap="flat" cmpd="sng" w="328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96952" rotWithShape="0" algn="bl" dir="4620000" dist="131301">
                <a:srgbClr val="FFFFFF">
                  <a:alpha val="50000"/>
                </a:srgbClr>
              </a:outerShdw>
            </a:effectLst>
          </p:spPr>
        </p:pic>
      </p:grpSp>
      <p:sp>
        <p:nvSpPr>
          <p:cNvPr id="190" name="Google Shape;190;p15"/>
          <p:cNvSpPr txBox="1"/>
          <p:nvPr/>
        </p:nvSpPr>
        <p:spPr>
          <a:xfrm>
            <a:off x="4584775" y="9028805"/>
            <a:ext cx="14515500" cy="22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775" lIns="315775" spcFirstLastPara="1" rIns="315775" wrap="square" tIns="315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44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Low availability</a:t>
            </a:r>
            <a:r>
              <a:rPr lang="en" sz="514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514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of domain specific knowledge resources</a:t>
            </a:r>
            <a:endParaRPr sz="514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1" name="Google Shape;191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2741" y="11797594"/>
            <a:ext cx="3629454" cy="362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2804" y="13635916"/>
            <a:ext cx="2163439" cy="216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/>
        </p:nvSpPr>
        <p:spPr>
          <a:xfrm>
            <a:off x="4429351" y="12105805"/>
            <a:ext cx="145155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5775" lIns="315775" spcFirstLastPara="1" rIns="315775" wrap="square" tIns="315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44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Expensive rollouts:</a:t>
            </a:r>
            <a:r>
              <a:rPr lang="en" sz="514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either the LLM workflow for the task or the task metric is slow/expensive to execute</a:t>
            </a:r>
            <a:endParaRPr sz="514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301205" y="6528706"/>
            <a:ext cx="163851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50" lIns="156750" spcFirstLastPara="1" rIns="156750" wrap="square" tIns="156750">
            <a:spAutoFit/>
          </a:bodyPr>
          <a:lstStyle/>
          <a:p>
            <a:pPr indent="-533443" lvl="0" marL="457200" rtl="0" algn="l">
              <a:lnSpc>
                <a:spcPct val="90000"/>
              </a:lnSpc>
              <a:spcBef>
                <a:spcPts val="1372"/>
              </a:spcBef>
              <a:spcAft>
                <a:spcPts val="0"/>
              </a:spcAft>
              <a:buClr>
                <a:srgbClr val="980000"/>
              </a:buClr>
              <a:buSzPts val="4801"/>
              <a:buFont typeface="Helvetica Neue"/>
              <a:buAutoNum type="arabicPeriod"/>
            </a:pPr>
            <a:r>
              <a:rPr b="1" lang="en" sz="4801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FLOPS get cheaper, progress in many AI capabilities will be bottlenecked by sample efficiency!</a:t>
            </a:r>
            <a:endParaRPr b="1" sz="4801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A colorful network with dots and lines&#10;&#10;AI-generated content may be incorrect." id="195" name="Google Shape;19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8417" y="17899676"/>
            <a:ext cx="2168155" cy="21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 txBox="1"/>
          <p:nvPr/>
        </p:nvSpPr>
        <p:spPr>
          <a:xfrm>
            <a:off x="610820" y="16425287"/>
            <a:ext cx="25281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</a:t>
            </a:r>
            <a:endParaRPr sz="3637"/>
          </a:p>
        </p:txBody>
      </p:sp>
      <p:sp>
        <p:nvSpPr>
          <p:cNvPr id="197" name="Google Shape;197;p15"/>
          <p:cNvSpPr txBox="1"/>
          <p:nvPr/>
        </p:nvSpPr>
        <p:spPr>
          <a:xfrm>
            <a:off x="7886758" y="1540900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1</a:t>
            </a:r>
            <a:endParaRPr sz="3637"/>
          </a:p>
        </p:txBody>
      </p:sp>
      <p:sp>
        <p:nvSpPr>
          <p:cNvPr id="198" name="Google Shape;198;p15"/>
          <p:cNvSpPr txBox="1"/>
          <p:nvPr/>
        </p:nvSpPr>
        <p:spPr>
          <a:xfrm>
            <a:off x="7955535" y="1743390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2</a:t>
            </a:r>
            <a:endParaRPr sz="3637"/>
          </a:p>
        </p:txBody>
      </p:sp>
      <p:sp>
        <p:nvSpPr>
          <p:cNvPr id="199" name="Google Shape;199;p15"/>
          <p:cNvSpPr txBox="1"/>
          <p:nvPr/>
        </p:nvSpPr>
        <p:spPr>
          <a:xfrm>
            <a:off x="7955535" y="19659581"/>
            <a:ext cx="33678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Rollout 3</a:t>
            </a:r>
            <a:endParaRPr sz="3637"/>
          </a:p>
        </p:txBody>
      </p:sp>
      <p:sp>
        <p:nvSpPr>
          <p:cNvPr id="200" name="Google Shape;200;p15"/>
          <p:cNvSpPr txBox="1"/>
          <p:nvPr/>
        </p:nvSpPr>
        <p:spPr>
          <a:xfrm>
            <a:off x="13848689" y="15429258"/>
            <a:ext cx="33336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Rewards</a:t>
            </a:r>
            <a:endParaRPr sz="3637"/>
          </a:p>
        </p:txBody>
      </p:sp>
      <p:sp>
        <p:nvSpPr>
          <p:cNvPr id="201" name="Google Shape;201;p15"/>
          <p:cNvSpPr txBox="1"/>
          <p:nvPr/>
        </p:nvSpPr>
        <p:spPr>
          <a:xfrm>
            <a:off x="15009024" y="16370391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3637"/>
          </a:p>
        </p:txBody>
      </p:sp>
      <p:sp>
        <p:nvSpPr>
          <p:cNvPr id="202" name="Google Shape;202;p15"/>
          <p:cNvSpPr txBox="1"/>
          <p:nvPr/>
        </p:nvSpPr>
        <p:spPr>
          <a:xfrm>
            <a:off x="15002979" y="18475593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3637"/>
          </a:p>
        </p:txBody>
      </p:sp>
      <p:sp>
        <p:nvSpPr>
          <p:cNvPr id="203" name="Google Shape;203;p15"/>
          <p:cNvSpPr txBox="1"/>
          <p:nvPr/>
        </p:nvSpPr>
        <p:spPr>
          <a:xfrm>
            <a:off x="15009036" y="20565769"/>
            <a:ext cx="954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3637"/>
          </a:p>
        </p:txBody>
      </p:sp>
      <p:sp>
        <p:nvSpPr>
          <p:cNvPr id="204" name="Google Shape;204;p15"/>
          <p:cNvSpPr txBox="1"/>
          <p:nvPr/>
        </p:nvSpPr>
        <p:spPr>
          <a:xfrm>
            <a:off x="6943793" y="16380954"/>
            <a:ext cx="63711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💬→💭→💻→ 💬</a:t>
            </a:r>
            <a:endParaRPr sz="3637"/>
          </a:p>
        </p:txBody>
      </p:sp>
      <p:sp>
        <p:nvSpPr>
          <p:cNvPr id="205" name="Google Shape;205;p15"/>
          <p:cNvSpPr txBox="1"/>
          <p:nvPr/>
        </p:nvSpPr>
        <p:spPr>
          <a:xfrm>
            <a:off x="6226124" y="18458430"/>
            <a:ext cx="10651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💬→🔎→💭→🔧→ 💬</a:t>
            </a:r>
            <a:endParaRPr sz="3637"/>
          </a:p>
        </p:txBody>
      </p:sp>
      <p:sp>
        <p:nvSpPr>
          <p:cNvPr id="206" name="Google Shape;206;p15"/>
          <p:cNvSpPr txBox="1"/>
          <p:nvPr/>
        </p:nvSpPr>
        <p:spPr>
          <a:xfrm>
            <a:off x="6605362" y="20535969"/>
            <a:ext cx="10651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700" lIns="237500" spcFirstLastPara="1" rIns="237500" wrap="square" tIns="118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💬→🔎 →💭→💬</a:t>
            </a:r>
            <a:endParaRPr sz="3637"/>
          </a:p>
        </p:txBody>
      </p:sp>
      <p:cxnSp>
        <p:nvCxnSpPr>
          <p:cNvPr id="207" name="Google Shape;207;p15"/>
          <p:cNvCxnSpPr/>
          <p:nvPr/>
        </p:nvCxnSpPr>
        <p:spPr>
          <a:xfrm flipH="1" rot="10800000">
            <a:off x="3817010" y="16676271"/>
            <a:ext cx="1661700" cy="11901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p15"/>
          <p:cNvCxnSpPr/>
          <p:nvPr/>
        </p:nvCxnSpPr>
        <p:spPr>
          <a:xfrm>
            <a:off x="3759537" y="19831269"/>
            <a:ext cx="1524600" cy="13383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" name="Google Shape;209;p15"/>
          <p:cNvCxnSpPr/>
          <p:nvPr/>
        </p:nvCxnSpPr>
        <p:spPr>
          <a:xfrm flipH="1" rot="10800000">
            <a:off x="3765387" y="18814569"/>
            <a:ext cx="1661700" cy="43800"/>
          </a:xfrm>
          <a:prstGeom prst="straightConnector1">
            <a:avLst/>
          </a:prstGeom>
          <a:noFill/>
          <a:ln cap="flat" cmpd="sng" w="989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p15"/>
          <p:cNvCxnSpPr/>
          <p:nvPr/>
        </p:nvCxnSpPr>
        <p:spPr>
          <a:xfrm flipH="1" rot="10800000">
            <a:off x="13241311" y="16874826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p15"/>
          <p:cNvCxnSpPr/>
          <p:nvPr/>
        </p:nvCxnSpPr>
        <p:spPr>
          <a:xfrm flipH="1" rot="10800000">
            <a:off x="13314152" y="18917760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" name="Google Shape;212;p15"/>
          <p:cNvCxnSpPr/>
          <p:nvPr/>
        </p:nvCxnSpPr>
        <p:spPr>
          <a:xfrm flipH="1" rot="10800000">
            <a:off x="13306642" y="21000064"/>
            <a:ext cx="1482600" cy="40200"/>
          </a:xfrm>
          <a:prstGeom prst="straightConnector1">
            <a:avLst/>
          </a:prstGeom>
          <a:noFill/>
          <a:ln cap="flat" cmpd="sng" w="98950">
            <a:solidFill>
              <a:srgbClr val="D8D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p15"/>
          <p:cNvCxnSpPr>
            <a:endCxn id="185" idx="4"/>
          </p:cNvCxnSpPr>
          <p:nvPr/>
        </p:nvCxnSpPr>
        <p:spPr>
          <a:xfrm>
            <a:off x="16618815" y="17280130"/>
            <a:ext cx="2066400" cy="23208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14" name="Google Shape;214;p15"/>
          <p:cNvCxnSpPr>
            <a:endCxn id="185" idx="4"/>
          </p:cNvCxnSpPr>
          <p:nvPr/>
        </p:nvCxnSpPr>
        <p:spPr>
          <a:xfrm flipH="1" rot="10800000">
            <a:off x="16618815" y="19600369"/>
            <a:ext cx="2066400" cy="627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15" name="Google Shape;215;p15"/>
          <p:cNvCxnSpPr>
            <a:endCxn id="185" idx="4"/>
          </p:cNvCxnSpPr>
          <p:nvPr/>
        </p:nvCxnSpPr>
        <p:spPr>
          <a:xfrm flipH="1" rot="10800000">
            <a:off x="16491722" y="19600417"/>
            <a:ext cx="2192400" cy="2019300"/>
          </a:xfrm>
          <a:prstGeom prst="straightConnector1">
            <a:avLst/>
          </a:prstGeom>
          <a:noFill/>
          <a:ln cap="flat" cmpd="sng" w="659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16" name="Google Shape;216;p15"/>
          <p:cNvSpPr txBox="1"/>
          <p:nvPr/>
        </p:nvSpPr>
        <p:spPr>
          <a:xfrm>
            <a:off x="301199" y="23638012"/>
            <a:ext cx="18924000" cy="1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58775" lIns="117550" spcFirstLastPara="1" rIns="117550" wrap="square" tIns="58775">
            <a:spAutoFit/>
          </a:bodyPr>
          <a:lstStyle/>
          <a:p>
            <a:pPr indent="0" lvl="0" marL="17419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6"/>
              <a:buFont typeface="Arial"/>
              <a:buNone/>
            </a:pPr>
            <a:r>
              <a:rPr i="0" lang="en" sz="48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There was a lot of info in each rollout, but we only took a 0/1 score propagated via gradient descent. Can we use the other info?</a:t>
            </a:r>
            <a:endParaRPr sz="48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195600" y="5038680"/>
            <a:ext cx="19135200" cy="1303200"/>
          </a:xfrm>
          <a:prstGeom prst="rect">
            <a:avLst/>
          </a:prstGeom>
          <a:solidFill>
            <a:srgbClr val="212C4D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7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Poor Sample Efficiency Blocks Agent Abilties</a:t>
            </a:r>
            <a:endParaRPr b="1" i="0" sz="7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8" name="Google Shape;218;p15"/>
          <p:cNvPicPr preferRelativeResize="0"/>
          <p:nvPr/>
        </p:nvPicPr>
        <p:blipFill rotWithShape="1">
          <a:blip r:embed="rId12">
            <a:alphaModFix/>
          </a:blip>
          <a:srcRect b="90803" l="0" r="0" t="3668"/>
          <a:stretch/>
        </p:blipFill>
        <p:spPr>
          <a:xfrm>
            <a:off x="19340725" y="15440804"/>
            <a:ext cx="20006108" cy="119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5"/>
          <p:cNvPicPr preferRelativeResize="0"/>
          <p:nvPr/>
        </p:nvPicPr>
        <p:blipFill rotWithShape="1">
          <a:blip r:embed="rId12">
            <a:alphaModFix/>
          </a:blip>
          <a:srcRect b="8441" l="0" r="0" t="12452"/>
          <a:stretch/>
        </p:blipFill>
        <p:spPr>
          <a:xfrm>
            <a:off x="19362318" y="16679041"/>
            <a:ext cx="20006108" cy="1709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406947" y="16101828"/>
            <a:ext cx="19049280" cy="365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717595" y="7235554"/>
            <a:ext cx="16794657" cy="8983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5"/>
          <p:cNvSpPr/>
          <p:nvPr/>
        </p:nvSpPr>
        <p:spPr>
          <a:xfrm>
            <a:off x="50432233" y="5047402"/>
            <a:ext cx="19049700" cy="1688400"/>
          </a:xfrm>
          <a:prstGeom prst="rect">
            <a:avLst/>
          </a:prstGeom>
          <a:solidFill>
            <a:srgbClr val="212C4D"/>
          </a:solidFill>
          <a:ln>
            <a:noFill/>
          </a:ln>
        </p:spPr>
        <p:txBody>
          <a:bodyPr anchorCtr="0" anchor="ctr" bIns="101500" lIns="101500" spcFirstLastPara="1" rIns="101500" wrap="square" tIns="101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6"/>
              <a:buFont typeface="Lato"/>
              <a:buNone/>
            </a:pPr>
            <a:r>
              <a:rPr b="1" lang="en" sz="710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Pareto-based Candidate Selection is Important</a:t>
            </a:r>
            <a:endParaRPr b="1" i="0" sz="7108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3" name="Google Shape;223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553825" y="6233025"/>
            <a:ext cx="24304502" cy="89837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/>
          <p:nvPr/>
        </p:nvSpPr>
        <p:spPr>
          <a:xfrm>
            <a:off x="19486300" y="13851450"/>
            <a:ext cx="27774300" cy="1303200"/>
          </a:xfrm>
          <a:prstGeom prst="rect">
            <a:avLst/>
          </a:prstGeom>
          <a:solidFill>
            <a:srgbClr val="212C4D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6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GEPA Generated Prompts are Incredibly Detailed!</a:t>
            </a:r>
            <a:endParaRPr b="1" i="0" sz="69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19591325" y="5047400"/>
            <a:ext cx="27774300" cy="1303200"/>
          </a:xfrm>
          <a:prstGeom prst="rect">
            <a:avLst/>
          </a:prstGeom>
          <a:solidFill>
            <a:srgbClr val="212C4D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7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GEPA is Highly Sample Efficient!</a:t>
            </a:r>
            <a:endParaRPr b="1" i="0" sz="7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26" name="Google Shape;226;p15"/>
          <p:cNvGrpSpPr/>
          <p:nvPr/>
        </p:nvGrpSpPr>
        <p:grpSpPr>
          <a:xfrm>
            <a:off x="21599385" y="7135521"/>
            <a:ext cx="2367772" cy="1191475"/>
            <a:chOff x="13421119" y="13285907"/>
            <a:chExt cx="1590603" cy="800400"/>
          </a:xfrm>
        </p:grpSpPr>
        <p:sp>
          <p:nvSpPr>
            <p:cNvPr id="227" name="Google Shape;227;p15"/>
            <p:cNvSpPr txBox="1"/>
            <p:nvPr/>
          </p:nvSpPr>
          <p:spPr>
            <a:xfrm>
              <a:off x="13421119" y="13285907"/>
              <a:ext cx="15906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100" lIns="136100" spcFirstLastPara="1" rIns="136100" wrap="square" tIns="136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954">
                  <a:solidFill>
                    <a:srgbClr val="3C78D8"/>
                  </a:solidFill>
                </a:rPr>
                <a:t>GEPA</a:t>
              </a:r>
              <a:endParaRPr sz="5954">
                <a:solidFill>
                  <a:srgbClr val="3C78D8"/>
                </a:solidFill>
              </a:endParaRPr>
            </a:p>
          </p:txBody>
        </p:sp>
        <p:cxnSp>
          <p:nvCxnSpPr>
            <p:cNvPr id="228" name="Google Shape;228;p15"/>
            <p:cNvCxnSpPr/>
            <p:nvPr/>
          </p:nvCxnSpPr>
          <p:spPr>
            <a:xfrm>
              <a:off x="14277622" y="13885487"/>
              <a:ext cx="734100" cy="199200"/>
            </a:xfrm>
            <a:prstGeom prst="straightConnector1">
              <a:avLst/>
            </a:prstGeom>
            <a:noFill/>
            <a:ln cap="flat" cmpd="sng" w="42525">
              <a:solidFill>
                <a:srgbClr val="3C78D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29" name="Google Shape;229;p15"/>
          <p:cNvSpPr txBox="1"/>
          <p:nvPr/>
        </p:nvSpPr>
        <p:spPr>
          <a:xfrm>
            <a:off x="909555" y="25808181"/>
            <a:ext cx="163851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50" lIns="156750" spcFirstLastPara="1" rIns="156750" wrap="square" tIns="1567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372"/>
              </a:spcBef>
              <a:spcAft>
                <a:spcPts val="0"/>
              </a:spcAft>
              <a:buNone/>
            </a:pPr>
            <a:r>
              <a:rPr b="1" lang="en" sz="4801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How do we “train” frontier closed-source models?</a:t>
            </a:r>
            <a:endParaRPr b="1" sz="4801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0356033" y="20580577"/>
            <a:ext cx="19049700" cy="1688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01500" lIns="101500" spcFirstLastPara="1" rIns="101500" wrap="square" tIns="101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6"/>
              <a:buFont typeface="Lato"/>
              <a:buNone/>
            </a:pPr>
            <a:r>
              <a:rPr b="1" lang="en" sz="710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Prompt optimization to text optimization</a:t>
            </a:r>
            <a:endParaRPr b="1" i="0" sz="7108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1" name="Google Shape;231;p1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0330750" y="22268975"/>
            <a:ext cx="1668780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50495074" y="25234312"/>
            <a:ext cx="189240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8775" lIns="117550" spcFirstLastPara="1" rIns="117550" wrap="square" tIns="58775">
            <a:spAutoFit/>
          </a:bodyPr>
          <a:lstStyle/>
          <a:p>
            <a:pPr indent="0" lvl="0" marL="17419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6"/>
              <a:buFont typeface="Arial"/>
              <a:buNone/>
            </a:pPr>
            <a:r>
              <a:rPr lang="en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Any text (Prompt / Code / SVG / Essay / Config)</a:t>
            </a:r>
            <a:endParaRPr sz="4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3" name="Google Shape;233;p15"/>
          <p:cNvCxnSpPr/>
          <p:nvPr/>
        </p:nvCxnSpPr>
        <p:spPr>
          <a:xfrm>
            <a:off x="60114924" y="26371287"/>
            <a:ext cx="0" cy="1011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6"/>
          <p:cNvPicPr preferRelativeResize="0"/>
          <p:nvPr/>
        </p:nvPicPr>
        <p:blipFill rotWithShape="1">
          <a:blip r:embed="rId3">
            <a:alphaModFix/>
          </a:blip>
          <a:srcRect b="0" l="0" r="1293" t="0"/>
          <a:stretch/>
        </p:blipFill>
        <p:spPr>
          <a:xfrm>
            <a:off x="38453528" y="1988653"/>
            <a:ext cx="21746049" cy="1289003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6"/>
          <p:cNvSpPr/>
          <p:nvPr/>
        </p:nvSpPr>
        <p:spPr>
          <a:xfrm>
            <a:off x="38429696" y="303800"/>
            <a:ext cx="21745800" cy="13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8350" lIns="78350" spcFirstLastPara="1" rIns="78350" wrap="square" tIns="7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72"/>
              <a:buFont typeface="Lato"/>
              <a:buNone/>
            </a:pPr>
            <a:r>
              <a:rPr b="1" lang="en" sz="565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GEPA: Reflective Evolution and Pareto-based Candidate Selection</a:t>
            </a:r>
            <a:endParaRPr b="1" i="0" sz="5658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/>
          <p:nvPr>
            <p:ph type="title"/>
          </p:nvPr>
        </p:nvSpPr>
        <p:spPr>
          <a:xfrm>
            <a:off x="2381388" y="2958921"/>
            <a:ext cx="65097300" cy="38079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2213" y="152400"/>
            <a:ext cx="61115735" cy="3419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/>
          <p:nvPr>
            <p:ph type="title"/>
          </p:nvPr>
        </p:nvSpPr>
        <p:spPr>
          <a:xfrm>
            <a:off x="2381388" y="2958921"/>
            <a:ext cx="65097300" cy="38079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 txBox="1"/>
          <p:nvPr>
            <p:ph idx="1" type="body"/>
          </p:nvPr>
        </p:nvSpPr>
        <p:spPr>
          <a:xfrm>
            <a:off x="2381388" y="7662676"/>
            <a:ext cx="65097300" cy="22715400"/>
          </a:xfrm>
          <a:prstGeom prst="rect">
            <a:avLst/>
          </a:prstGeom>
        </p:spPr>
        <p:txBody>
          <a:bodyPr anchorCtr="0" anchor="t" bIns="668275" lIns="668275" spcFirstLastPara="1" rIns="668275" wrap="square" tIns="668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772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